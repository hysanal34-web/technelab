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bb937555-1e58-ea22-6dfe-729b9bed53e3}">
          <p14:sldIdLst>
            <p14:sldId id="256"/>
            <p14:sldId id="257"/>
          </p14:sldIdLst>
        </p14:section>
        <p14:section name="Yöntem" id="{63fbfb91-6f86-ffb3-4d25-82a00d1e4c71}">
          <p14:sldIdLst>
            <p14:sldId id="258"/>
            <p14:sldId id="259"/>
            <p14:sldId id="260"/>
            <p14:sldId id="261"/>
          </p14:sldIdLst>
        </p14:section>
        <p14:section name="Program" id="{bdf42f9c-49fc-4f12-aa46-eb6640e79e6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iz" id="{4ae91cab-baa5-ddf6-9c04-87bfdc6cb979}">
          <p14:sldIdLst>
            <p14:sldId id="268"/>
          </p14:sldIdLst>
        </p14:section>
        <p14:section name="Kapanış" id="{73b997de-0238-aec0-fd06-b69942c4e5fd}">
          <p14:sldIdLst>
            <p14:sldId id="269"/>
          </p14:sldIdLst>
        </p14:section>
        <p14:section name="Kapanış" id="{60658531-c2dd-fe9a-9170-f227ddfba82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 cümlesi: Sizin ekibinizde de bilen ama toplantıda söz almayan biri var mı? Bu sunum o kişi için.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Kaynak: Melon ve Endeavor, Türkiye Ücret, Yan Haklar ve Eğitim Trendleri Raporu, Aralık 2025, 136 şirket (MediaCat haberi).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modül bir sonraki sayfadaki formatlardan biriyle yürür. Diksiyonun İngilizce karşılığı Voice and Clarity: ses, vurgu ve anlaşılırlık.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Dil bütçesinden değil, liderlik ve iletişim gelişimi bütçesinden planlanır. Dil kursuyla kişi-saat kıyası yapılırsa yanlış karşılaştırma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Kurumsal iletişim, kültür ya da yıl sonu etkinliği bütçesinden. Kişi başı maliyeti eğitim bütçesine göre yüksek; kültür projesi olarak konumlanır.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Retrospektif "şimdi ve önce" anketi (Howard 1980; UW-Extension Quick Tip 27). Kirkpatrick: hedef baştan iş sonucuna bağlanır.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sayfa müşteriyle birlikte doldurulur; buradaki rakamlar 12 kişilik 6 Oturumluk Program örneğidir.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Kurumsal müşteri KDV'yi indirebildiği için fiyatlar + KDV gösterildi. Pazarlık tabanı iç tabloda.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 LAB İSTANBUL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411480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KURUMSAL PROGRAMLAR · TR · 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pak görseli" descr="/tmp/sun/img/kapak-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KURUMSAL PROGRAMLAR · TÜRKÇE VE İNGİLİZCE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EKİBİNİZ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SAHNEDE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İletişim, ekip ve iyi oluş için tiyatro, doğaçlama, dans ve yazarlık atölyeleri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technelabistanbul.com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SORUN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Üç ihtiyaç, tek yöntem</a:t>
            </a:r>
            <a:endParaRPr lang="en-US" sz="2800" dirty="0"/>
          </a:p>
        </p:txBody>
      </p:sp>
      <p:sp>
        <p:nvSpPr>
          <p:cNvPr id="5" name="Kart Bilen ama söz almayan uzmanlar"/>
          <p:cNvSpPr/>
          <p:nvPr/>
        </p:nvSpPr>
        <p:spPr>
          <a:xfrm>
            <a:off x="457200" y="1325880"/>
            <a:ext cx="26517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İLETİŞİM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Bilen ama söz almayan uzmanlar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6771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Global toplantıda sessiz kalıyor, beklenmedik soruda kilitleniyor, sunumu okuyor.</a:t>
            </a:r>
            <a:endParaRPr lang="en-US" sz="1200" dirty="0"/>
          </a:p>
        </p:txBody>
      </p:sp>
      <p:sp>
        <p:nvSpPr>
          <p:cNvPr id="9" name="Kart Plan değişince dağılan ekipler"/>
          <p:cNvSpPr/>
          <p:nvPr/>
        </p:nvSpPr>
        <p:spPr>
          <a:xfrm>
            <a:off x="3246120" y="1325880"/>
            <a:ext cx="26517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EKİP VE YARATICILIK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 değişince dağılan ekipler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26771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Fikirler reddediliyor, roller kapanıyor, belirsizlikte herkes geri çekiliyor.</a:t>
            </a:r>
            <a:endParaRPr lang="en-US" sz="1200" dirty="0"/>
          </a:p>
        </p:txBody>
      </p:sp>
      <p:sp>
        <p:nvSpPr>
          <p:cNvPr id="13" name="Kart Ekrana bağlı, yorgun ekipler"/>
          <p:cNvSpPr/>
          <p:nvPr/>
        </p:nvSpPr>
        <p:spPr>
          <a:xfrm>
            <a:off x="6035040" y="1325880"/>
            <a:ext cx="2651760" cy="1508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ENERJİ VE İYİ OLUŞ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Ekrana bağlı, yorgun ekipler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26771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Beden yok, ritim yok. Birlikte bir şey üretmenin keyfi unutuluyor.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0175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%71</a:t>
            </a:r>
            <a:endParaRPr lang="en-US" sz="5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şirketin 2026 gelişim önceliği: liderlik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017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%71</a:t>
            </a:r>
            <a:endParaRPr lang="en-US" sz="5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3886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şirkette gelişimin önündeki ana engel: zaman ve iş yükü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Kaynak: Melon ve Endeavor, Türkiye Ücret, Yan Haklar ve Eğitim Trendleri Raporu, Aralık 2025. Programlarımız bu yüzden mesai içinde 2 saatlik bloklar hâlinde.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YÖNTEM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Sahne araçları, iş davranışları</a:t>
            </a:r>
            <a:endParaRPr lang="en-US" sz="2800" dirty="0"/>
          </a:p>
        </p:txBody>
      </p:sp>
      <p:sp>
        <p:nvSpPr>
          <p:cNvPr id="4" name="Kart Toplantıda söz almak ve dikkati tutmak"/>
          <p:cNvSpPr/>
          <p:nvPr/>
        </p:nvSpPr>
        <p:spPr>
          <a:xfrm>
            <a:off x="457200" y="1325880"/>
            <a:ext cx="406908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BEDEN VE MEVCUDİYET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Toplantıda söz almak ve dikkati tutmak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305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Duruş, nefes ve göz teması. İlk 10 dakikada söz alma alışkanlığı.</a:t>
            </a:r>
            <a:endParaRPr lang="en-US" sz="1200" dirty="0"/>
          </a:p>
        </p:txBody>
      </p:sp>
      <p:sp>
        <p:nvSpPr>
          <p:cNvPr id="8" name="Kart Baskı altında net konuşmak"/>
          <p:cNvSpPr/>
          <p:nvPr/>
        </p:nvSpPr>
        <p:spPr>
          <a:xfrm>
            <a:off x="4617720" y="1325880"/>
            <a:ext cx="406908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9047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 VE NEFES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7647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Baskı altında net konuşmak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305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Sesi zorlamadan taşımak; hızlanmadan, kısılmadan cevap vermek.</a:t>
            </a:r>
            <a:endParaRPr lang="en-US" sz="1200" dirty="0"/>
          </a:p>
        </p:txBody>
      </p:sp>
      <p:sp>
        <p:nvSpPr>
          <p:cNvPr id="12" name="Kart Plan değişince hızlı uyum"/>
          <p:cNvSpPr/>
          <p:nvPr/>
        </p:nvSpPr>
        <p:spPr>
          <a:xfrm>
            <a:off x="457200" y="2788920"/>
            <a:ext cx="406908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535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DOĞAÇLAMA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278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Plan değişince hızlı uyum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93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Fikri reddetmeden geliştirmek (doğaçlamanın "evet, ve" kuralı); beklenmedik soruya yapılandırılmış cevap.</a:t>
            </a:r>
            <a:endParaRPr lang="en-US" sz="1200" dirty="0"/>
          </a:p>
        </p:txBody>
      </p:sp>
      <p:sp>
        <p:nvSpPr>
          <p:cNvPr id="16" name="Kart Mesajı ikna edici kurgulamak"/>
          <p:cNvSpPr/>
          <p:nvPr/>
        </p:nvSpPr>
        <p:spPr>
          <a:xfrm>
            <a:off x="4617720" y="2788920"/>
            <a:ext cx="4069080" cy="13258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9535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METİN VE HİKÂYE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278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Mesajı ikna edici kurgulamak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5935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Veriyi hikâyeye çevirmek; 5 dakikalık sunumu notsuz anlatmak.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Neden işe yarıyor: tekrar, beden ve anında geri bildirim. Slayt değil,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KATALOĞU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On modül, Türkçe ya da İngilizce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İLETİŞİM</a:t>
            </a:r>
            <a:endParaRPr lang="en-US" sz="1000" dirty="0"/>
          </a:p>
        </p:txBody>
      </p:sp>
      <p:sp>
        <p:nvSpPr>
          <p:cNvPr id="6" name="Modül Etkili Konuşma ve Sunum"/>
          <p:cNvSpPr/>
          <p:nvPr/>
        </p:nvSpPr>
        <p:spPr>
          <a:xfrm>
            <a:off x="457200" y="160020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6642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Etkili Konuşma ve Sunum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0025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185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Söz almak, sunumu notsuz anlatmak</a:t>
            </a:r>
            <a:endParaRPr lang="en-US" sz="1000" dirty="0"/>
          </a:p>
        </p:txBody>
      </p:sp>
      <p:sp>
        <p:nvSpPr>
          <p:cNvPr id="10" name="Modül Diksiyon ve Ses"/>
          <p:cNvSpPr/>
          <p:nvPr/>
        </p:nvSpPr>
        <p:spPr>
          <a:xfrm>
            <a:off x="457200" y="260604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Diksiyon ve Ses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008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191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Net, yorulmayan ses; tonlama, vurgu</a:t>
            </a:r>
            <a:endParaRPr lang="en-US" sz="1000" dirty="0"/>
          </a:p>
        </p:txBody>
      </p:sp>
      <p:sp>
        <p:nvSpPr>
          <p:cNvPr id="14" name="Modül Oyunculukla Mevcudiyet"/>
          <p:cNvSpPr/>
          <p:nvPr/>
        </p:nvSpPr>
        <p:spPr>
          <a:xfrm>
            <a:off x="457200" y="361188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3675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Oyunculukla Mevcudiyet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40142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197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Duruş, status, kamera önünde rahatlık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EKİP VE YARATICILIK</a:t>
            </a:r>
            <a:endParaRPr lang="en-US" sz="1000" dirty="0"/>
          </a:p>
        </p:txBody>
      </p:sp>
      <p:sp>
        <p:nvSpPr>
          <p:cNvPr id="19" name="Modül Doğaçlama"/>
          <p:cNvSpPr/>
          <p:nvPr/>
        </p:nvSpPr>
        <p:spPr>
          <a:xfrm>
            <a:off x="2560320" y="160020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70048" y="16642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Doğaçlama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670048" y="20025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670048" y="2185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Plan değişince uyum, fikri geliştirmek</a:t>
            </a:r>
            <a:endParaRPr lang="en-US" sz="1000" dirty="0"/>
          </a:p>
        </p:txBody>
      </p:sp>
      <p:sp>
        <p:nvSpPr>
          <p:cNvPr id="23" name="Modül Yaratıcı Drama"/>
          <p:cNvSpPr/>
          <p:nvPr/>
        </p:nvSpPr>
        <p:spPr>
          <a:xfrm>
            <a:off x="2560320" y="260604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70048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Yaratıcı Drama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670048" y="3008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670048" y="3191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Rol değişimi, empati, zor konuşma provası</a:t>
            </a:r>
            <a:endParaRPr lang="en-US" sz="1000" dirty="0"/>
          </a:p>
        </p:txBody>
      </p:sp>
      <p:sp>
        <p:nvSpPr>
          <p:cNvPr id="27" name="Modül Yazarlık ve Hikâye"/>
          <p:cNvSpPr/>
          <p:nvPr/>
        </p:nvSpPr>
        <p:spPr>
          <a:xfrm>
            <a:off x="2560320" y="361188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70048" y="3675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Yazarlık ve Hikâye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670048" y="40142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2670048" y="4197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Yaratıcı yazarlık; mesajı hikâyeye çevirmek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ENERJİ VE İYİ OLUŞ</a:t>
            </a:r>
            <a:endParaRPr lang="en-US" sz="1000" dirty="0"/>
          </a:p>
        </p:txBody>
      </p:sp>
      <p:sp>
        <p:nvSpPr>
          <p:cNvPr id="32" name="Modül Jazz Dance"/>
          <p:cNvSpPr/>
          <p:nvPr/>
        </p:nvSpPr>
        <p:spPr>
          <a:xfrm>
            <a:off x="4663440" y="160020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16642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Jazz Dance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20025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DİL BAĞIMSIZ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773168" y="2185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Ekip enerjisi, ritim, birlikte hareket</a:t>
            </a:r>
            <a:endParaRPr lang="en-US" sz="1000" dirty="0"/>
          </a:p>
        </p:txBody>
      </p:sp>
      <p:sp>
        <p:nvSpPr>
          <p:cNvPr id="36" name="Modül Hareket ve Beden"/>
          <p:cNvSpPr/>
          <p:nvPr/>
        </p:nvSpPr>
        <p:spPr>
          <a:xfrm>
            <a:off x="4663440" y="260604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73168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Hareket ve Beden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773168" y="3008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DİL BAĞIMSIZ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773168" y="3191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Duruş, nefes, stres, beden farkındalığı</a:t>
            </a:r>
            <a:endParaRPr lang="en-US" sz="1000" dirty="0"/>
          </a:p>
        </p:txBody>
      </p:sp>
      <p:sp>
        <p:nvSpPr>
          <p:cNvPr id="40" name="Modül Müzikal"/>
          <p:cNvSpPr/>
          <p:nvPr/>
        </p:nvSpPr>
        <p:spPr>
          <a:xfrm>
            <a:off x="4663440" y="361188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773168" y="3675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Müzikal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773168" y="40142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773168" y="4197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Şarkı, dans ve sahne; ekipçe üretmek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1280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SAHNE</a:t>
            </a:r>
            <a:endParaRPr lang="en-US" sz="1000" dirty="0"/>
          </a:p>
        </p:txBody>
      </p:sp>
      <p:sp>
        <p:nvSpPr>
          <p:cNvPr id="45" name="Modül Yıl Sonu Şirket Oyunu"/>
          <p:cNvSpPr/>
          <p:nvPr/>
        </p:nvSpPr>
        <p:spPr>
          <a:xfrm>
            <a:off x="6766560" y="160020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76288" y="16642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Yıl Sonu Şirket Oyunu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876288" y="20025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6876288" y="21854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Çalışanlarla bir oyun ya da müzikal</a:t>
            </a:r>
            <a:endParaRPr lang="en-US" sz="1000" dirty="0"/>
          </a:p>
        </p:txBody>
      </p:sp>
      <p:sp>
        <p:nvSpPr>
          <p:cNvPr id="49" name="Modül Karma program"/>
          <p:cNvSpPr/>
          <p:nvPr/>
        </p:nvSpPr>
        <p:spPr>
          <a:xfrm>
            <a:off x="6766560" y="260604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876288" y="26700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Karma program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876288" y="3008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· EN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876288" y="3191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Modüller birleşir: ör. diksiyon ve sunum</a:t>
            </a:r>
            <a:endParaRPr lang="en-US" sz="1000" dirty="0"/>
          </a:p>
        </p:txBody>
      </p:sp>
      <p:sp>
        <p:nvSpPr>
          <p:cNvPr id="53" name="Modül Dil seçimi"/>
          <p:cNvSpPr/>
          <p:nvPr/>
        </p:nvSpPr>
        <p:spPr>
          <a:xfrm>
            <a:off x="6766560" y="3611880"/>
            <a:ext cx="1965960" cy="932688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876288" y="36758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Dil seçimi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876288" y="401421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AYNI FİYAT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6876288" y="41970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İngilizce grupta B1 ve üzeri seviye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FORMATLAR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Bir oturumdan yıl sonu gösterisine</a:t>
            </a:r>
            <a:endParaRPr lang="en-US" sz="2800" dirty="0"/>
          </a:p>
        </p:txBody>
      </p:sp>
      <p:sp>
        <p:nvSpPr>
          <p:cNvPr id="4" name="Kart Etkinlik Oturumu"/>
          <p:cNvSpPr/>
          <p:nvPr/>
        </p:nvSpPr>
        <p:spPr>
          <a:xfrm>
            <a:off x="45720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DK · 20–60 KİŞİ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Etkinlik Oturumu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Kick-off, offsite, kutlama. Jazz Dance, Doğaçlama, Hareket ve Beden.</a:t>
            </a:r>
            <a:endParaRPr lang="en-US" sz="1200" dirty="0"/>
          </a:p>
        </p:txBody>
      </p:sp>
      <p:sp>
        <p:nvSpPr>
          <p:cNvPr id="8" name="Kart Sahne Provası"/>
          <p:cNvSpPr/>
          <p:nvPr/>
        </p:nvSpPr>
        <p:spPr>
          <a:xfrm>
            <a:off x="324612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SAAT · 8–16 KİŞİ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Sahne Provası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Her modülde deneme atölyesi; programın 1. oturumu sayılır.</a:t>
            </a:r>
            <a:endParaRPr lang="en-US" sz="1200" dirty="0"/>
          </a:p>
        </p:txBody>
      </p:sp>
      <p:sp>
        <p:nvSpPr>
          <p:cNvPr id="12" name="Kart Tam Gün Yoğun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90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SAAT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64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Tam Gün Yoğun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305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Etkili Konuşma, Diksiyon ve Ses, Oyunculukla Mevcudiyet.</a:t>
            </a:r>
            <a:endParaRPr lang="en-US" sz="1200" dirty="0"/>
          </a:p>
        </p:txBody>
      </p:sp>
      <p:sp>
        <p:nvSpPr>
          <p:cNvPr id="16" name="Kart 6 Oturumluk Program"/>
          <p:cNvSpPr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× 2 SAAT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 Oturumluk Program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Davranış değişimi için. Takip buluşması ve ölçüm raporu dahil.</a:t>
            </a:r>
            <a:endParaRPr lang="en-US" sz="1200" dirty="0"/>
          </a:p>
        </p:txBody>
      </p:sp>
      <p:sp>
        <p:nvSpPr>
          <p:cNvPr id="20" name="Kart Çalışan Kulübü"/>
          <p:cNvSpPr/>
          <p:nvPr/>
        </p:nvSpPr>
        <p:spPr>
          <a:xfrm>
            <a:off x="324612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× 2 SAAT · MESAİ SONRASI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Çalışan Kulübü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Jazz Dance, Müzikal, Doğaçlama, Yazarlık. İyi oluş bütçesinden.</a:t>
            </a:r>
            <a:endParaRPr lang="en-US" sz="1200" dirty="0"/>
          </a:p>
        </p:txBody>
      </p:sp>
      <p:sp>
        <p:nvSpPr>
          <p:cNvPr id="24" name="Kart Yıl Sonu Şirket Oyunu"/>
          <p:cNvSpPr/>
          <p:nvPr/>
        </p:nvSpPr>
        <p:spPr>
          <a:xfrm>
            <a:off x="6035040" y="2926080"/>
            <a:ext cx="2651760" cy="14630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HAFTA + GÖSTERİ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Yıl Sonu Şirket Oyunu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730752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Gönüllü katılım. Kurumsal iletişim ya da kültür bütçesinden.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İNGİLİZCE SEÇENEĞİ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Dil kursunun bittiği yerde başlar</a:t>
            </a:r>
            <a:endParaRPr lang="en-US" sz="2800" dirty="0"/>
          </a:p>
        </p:txBody>
      </p:sp>
      <p:pic>
        <p:nvPicPr>
          <p:cNvPr id="5" name="Atölyeden kare" descr="/tmp/sun/img/bed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25880"/>
            <a:ext cx="3200400" cy="3291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3258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2F2EC"/>
                </a:solidFill>
              </a:rPr>
              <a:t>B2'ye ulaşmış ama HQ toplantısında söz almayan çalışan için.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Dil eğitimi değil, kullanım pratiği: mevcut İngilizceyi toplantıda kullanılır hâle getirir. Global toplantıda söz almak, müşteriyle sohbeti sürdürmek, beklenmedik soruya cevap vermek.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Dil kursunun rakibi değil, tamamlayıcısı. B1 ve üzeri seviye; seviye sınavı yok, grubu ilk oturumda birlikte kuruyoruz.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Tüm programlar Türkçe ya da İngilizce yürütülebilir.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Önce deneyin, sonra programa geçin</a:t>
            </a:r>
            <a:endParaRPr lang="en-US" sz="2800" dirty="0"/>
          </a:p>
        </p:txBody>
      </p:sp>
      <p:sp>
        <p:nvSpPr>
          <p:cNvPr id="4" name="Kart Sahne Provası"/>
          <p:cNvSpPr/>
          <p:nvPr/>
        </p:nvSpPr>
        <p:spPr>
          <a:xfrm>
            <a:off x="457200" y="1325880"/>
            <a:ext cx="365760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DENEME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64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Sahne Provası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3 saat, 8–16 kişi. Yıl sonu toplantısı, Ocak açılışı ya da ekip günü için. Ekip yöntemi kendi iş durumlarıyla dener.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920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Kart 6 Oturumluk Program"/>
          <p:cNvSpPr/>
          <p:nvPr/>
        </p:nvSpPr>
        <p:spPr>
          <a:xfrm>
            <a:off x="5029200" y="1325880"/>
            <a:ext cx="365760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490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PROGRAM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7647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 Oturumluk Program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22199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6 × 2 saat, 8–14 kişi, haftada bir. 30. gün takip buluşması ve ölçüm raporu dahil.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</a:rPr>
              <a:t>Sahne Provası, programın 1. oturumu sayılır </a:t>
            </a:r>
            <a:pPr indent="0" marL="0">
              <a:buNone/>
            </a:pPr>
            <a:r>
              <a:rPr lang="en-US" sz="1400" dirty="0">
                <a:solidFill>
                  <a:srgbClr val="F2F2EC"/>
                </a:solidFill>
              </a:rPr>
              <a:t>(60 gün içinde programa geçilirse).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İletişim ve ekip modüllerinde önerilen yol bu. Dans, müzikal ve hareket için Etkinlik Oturumu ya da Çalışan Kulübü daha uygun.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YIL SONU ŞİRKET OYUNU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Çalışanlarla 12 haftada bir oyun</a:t>
            </a:r>
            <a:endParaRPr lang="en-US" sz="2800" dirty="0"/>
          </a:p>
        </p:txBody>
      </p:sp>
      <p:sp>
        <p:nvSpPr>
          <p:cNvPr id="5" name="Zaman çizgisi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6" name="Durak 1–2. hafta"/>
          <p:cNvSpPr/>
          <p:nvPr/>
        </p:nvSpPr>
        <p:spPr>
          <a:xfrm>
            <a:off x="56692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1–2. hafta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Ekip ve hikâye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Şirketin kendi hikâyesi ya da bir uyarlama</a:t>
            </a:r>
            <a:endParaRPr lang="en-US" sz="1200" dirty="0"/>
          </a:p>
        </p:txBody>
      </p:sp>
      <p:sp>
        <p:nvSpPr>
          <p:cNvPr id="10" name="Durak 3–6"/>
          <p:cNvSpPr/>
          <p:nvPr/>
        </p:nvSpPr>
        <p:spPr>
          <a:xfrm>
            <a:off x="221284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0312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Prova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Oyunculuk, doğaçlama, ses</a:t>
            </a:r>
            <a:endParaRPr lang="en-US" sz="1200" dirty="0"/>
          </a:p>
        </p:txBody>
      </p:sp>
      <p:sp>
        <p:nvSpPr>
          <p:cNvPr id="14" name="Durak 7–9"/>
          <p:cNvSpPr/>
          <p:nvPr/>
        </p:nvSpPr>
        <p:spPr>
          <a:xfrm>
            <a:off x="385876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7–9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Müzik ve hareket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Şarkılar ve koreografi</a:t>
            </a:r>
            <a:endParaRPr lang="en-US" sz="1200" dirty="0"/>
          </a:p>
        </p:txBody>
      </p:sp>
      <p:sp>
        <p:nvSpPr>
          <p:cNvPr id="18" name="Durak 10–11"/>
          <p:cNvSpPr/>
          <p:nvPr/>
        </p:nvSpPr>
        <p:spPr>
          <a:xfrm>
            <a:off x="550468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949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Birleştirme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Sahne, kostüm, teknik</a:t>
            </a:r>
            <a:endParaRPr lang="en-US" sz="1200" dirty="0"/>
          </a:p>
        </p:txBody>
      </p:sp>
      <p:sp>
        <p:nvSpPr>
          <p:cNvPr id="22" name="Durak 12"/>
          <p:cNvSpPr/>
          <p:nvPr/>
        </p:nvSpPr>
        <p:spPr>
          <a:xfrm>
            <a:off x="715060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Gösteri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Yıl sonu toplantısında ya da kiralanan salonda</a:t>
            </a:r>
            <a:endParaRPr lang="en-US" sz="1200" dirty="0"/>
          </a:p>
        </p:txBody>
      </p:sp>
      <p:sp>
        <p:nvSpPr>
          <p:cNvPr id="26" name="Katılım ilkesi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00"/>
                </a:solidFill>
              </a:rPr>
              <a:t>Katılım  </a:t>
            </a:r>
            <a:pPr indent="0" marL="0">
              <a:buNone/>
            </a:pPr>
            <a:r>
              <a:rPr lang="en-US" sz="1300" dirty="0">
                <a:solidFill>
                  <a:srgbClr val="F2F2EC"/>
                </a:solidFill>
              </a:rPr>
              <a:t>Gönüllü, 10–20 kişi. Kimse rol için seçilmez; sahneye çıkmak istemeyenler yazım, tasarım ve teknik ekipte yer alır. Türkçe ya da İngilizce.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BİR OTURUM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 saatlik bir oturumun akışı</a:t>
            </a:r>
            <a:endParaRPr lang="en-US" sz="2800" dirty="0"/>
          </a:p>
        </p:txBody>
      </p:sp>
      <p:sp>
        <p:nvSpPr>
          <p:cNvPr id="4" name="Zaman çizgisi"/>
          <p:cNvSpPr/>
          <p:nvPr/>
        </p:nvSpPr>
        <p:spPr>
          <a:xfrm>
            <a:off x="640080" y="1965960"/>
            <a:ext cx="7863840" cy="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5" name="Durak 0:00"/>
          <p:cNvSpPr/>
          <p:nvPr/>
        </p:nvSpPr>
        <p:spPr>
          <a:xfrm>
            <a:off x="56692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Isınma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Beden, ses, grup ritmi</a:t>
            </a:r>
            <a:endParaRPr lang="en-US" sz="1200" dirty="0"/>
          </a:p>
        </p:txBody>
      </p:sp>
      <p:sp>
        <p:nvSpPr>
          <p:cNvPr id="9" name="Durak 0:20"/>
          <p:cNvSpPr/>
          <p:nvPr/>
        </p:nvSpPr>
        <p:spPr>
          <a:xfrm>
            <a:off x="221284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Teknik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 günün tek becerisi</a:t>
            </a:r>
            <a:endParaRPr lang="en-US" sz="1200" dirty="0"/>
          </a:p>
        </p:txBody>
      </p:sp>
      <p:sp>
        <p:nvSpPr>
          <p:cNvPr id="13" name="Durak 0:45"/>
          <p:cNvSpPr/>
          <p:nvPr/>
        </p:nvSpPr>
        <p:spPr>
          <a:xfrm>
            <a:off x="385876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Doğaçlama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Gerçek iş durumları</a:t>
            </a:r>
            <a:endParaRPr lang="en-US" sz="1200" dirty="0"/>
          </a:p>
        </p:txBody>
      </p:sp>
      <p:sp>
        <p:nvSpPr>
          <p:cNvPr id="17" name="Durak 1:20"/>
          <p:cNvSpPr/>
          <p:nvPr/>
        </p:nvSpPr>
        <p:spPr>
          <a:xfrm>
            <a:off x="550468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Prova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Herkes kendi iş anını prova eder, geri bildirim alır</a:t>
            </a:r>
            <a:endParaRPr lang="en-US" sz="1200" dirty="0"/>
          </a:p>
        </p:txBody>
      </p:sp>
      <p:sp>
        <p:nvSpPr>
          <p:cNvPr id="21" name="Durak 1:50"/>
          <p:cNvSpPr/>
          <p:nvPr/>
        </p:nvSpPr>
        <p:spPr>
          <a:xfrm>
            <a:off x="7150608" y="1856232"/>
            <a:ext cx="219456" cy="21945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325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Kapanış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517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Bu hafta deneyeceği tek davranış</a:t>
            </a:r>
            <a:endParaRPr lang="en-US" sz="1200" dirty="0"/>
          </a:p>
        </p:txBody>
      </p:sp>
      <p:sp>
        <p:nvSpPr>
          <p:cNvPr id="25" name="Katılımcı güvenliği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00"/>
                </a:solidFill>
              </a:rPr>
              <a:t>Katılımcı güvenliği  </a:t>
            </a:r>
            <a:pPr indent="0" marL="0">
              <a:buNone/>
            </a:pPr>
            <a:r>
              <a:rPr lang="en-US" sz="1300" dirty="0">
                <a:solidFill>
                  <a:srgbClr val="F2F2EC"/>
                </a:solidFill>
              </a:rPr>
              <a:t>Katılım gönüllü. Kimse utandırılmaz, sahneye çıkma zorunluluğu yok. Yöneticiler ve ekip ayrı gruplanabilir.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ÖLÇÜM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Her programda önce/sonra ölçüm</a:t>
            </a:r>
            <a:endParaRPr lang="en-US" sz="2800" dirty="0"/>
          </a:p>
        </p:txBody>
      </p:sp>
      <p:sp>
        <p:nvSpPr>
          <p:cNvPr id="5" name="Kart Anket"/>
          <p:cNvSpPr/>
          <p:nvPr/>
        </p:nvSpPr>
        <p:spPr>
          <a:xfrm>
            <a:off x="457200" y="1325880"/>
            <a:ext cx="196596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GÜN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Anket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7627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3 madde, 1–7: "şimdi" ve "programdan önce" aynı anda puanlanır.</a:t>
            </a:r>
            <a:endParaRPr lang="en-US" sz="1200" dirty="0"/>
          </a:p>
        </p:txBody>
      </p:sp>
      <p:sp>
        <p:nvSpPr>
          <p:cNvPr id="9" name="Kart Tekrar"/>
          <p:cNvSpPr/>
          <p:nvPr/>
        </p:nvSpPr>
        <p:spPr>
          <a:xfrm>
            <a:off x="2560320" y="1325880"/>
            <a:ext cx="196596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 GÜN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Tekrar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17627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Aynı 3 madde, son iki haftada kaç kez kullanıldı, bir gerçek örnek.</a:t>
            </a:r>
            <a:endParaRPr lang="en-US" sz="1200" dirty="0"/>
          </a:p>
        </p:txBody>
      </p:sp>
      <p:sp>
        <p:nvSpPr>
          <p:cNvPr id="13" name="Kart Yönetici gözlemi"/>
          <p:cNvSpPr/>
          <p:nvPr/>
        </p:nvSpPr>
        <p:spPr>
          <a:xfrm>
            <a:off x="4663440" y="1325880"/>
            <a:ext cx="196596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 GÜN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Yönetici gözlemi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17627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Yönetici ya da ekip arkadaşı 2 maddeyi puanlar.</a:t>
            </a:r>
            <a:endParaRPr lang="en-US" sz="1200" dirty="0"/>
          </a:p>
        </p:txBody>
      </p:sp>
      <p:sp>
        <p:nvSpPr>
          <p:cNvPr id="17" name="Kart İş göstergesi"/>
          <p:cNvSpPr/>
          <p:nvPr/>
        </p:nvSpPr>
        <p:spPr>
          <a:xfrm>
            <a:off x="6766560" y="1325880"/>
            <a:ext cx="1965960" cy="1783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14904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İMZADAN ÖNCE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17647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İş göstergesi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17627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Birlikte seçilir: ör. HQ toplantısında sunum yapan kişi sayısı.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FF00"/>
                </a:solidFill>
              </a:rPr>
              <a:t>Anket maddeleri  </a:t>
            </a:r>
            <a:pPr indent="0" marL="0">
              <a:buNone/>
            </a:pPr>
            <a:r>
              <a:rPr lang="en-US" sz="1200" dirty="0">
                <a:solidFill>
                  <a:srgbClr val="F2F2EC"/>
                </a:solidFill>
              </a:rPr>
              <a:t>Hazırlıksız olduğumda da toplantıda net ve sakin konuşurum · Konuşma beklenmedik yere gidince toparlanır ve işe yarar bir cevap veririm · Grup tartışmasında önce başkasının fikrini geliştirir, sonra kendiminkini eklerim.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Ölçüm katılımcı öz değerlendirmesine ve yönetici gözlemine dayanır; katılımcıya ve yöneticiye özet rapor verilir.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İŞ GEREKÇESİ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Örnek: tek sayfalık iş gerekçesi</a:t>
            </a:r>
            <a:endParaRPr lang="en-US" sz="2800" dirty="0"/>
          </a:p>
        </p:txBody>
      </p:sp>
      <p:sp>
        <p:nvSpPr>
          <p:cNvPr id="5" name="İş gerekçesi Problem"/>
          <p:cNvSpPr/>
          <p:nvPr/>
        </p:nvSpPr>
        <p:spPr>
          <a:xfrm>
            <a:off x="457200" y="132588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3560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73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Global toplantılarda Türkiye ekibinin söz alma payı düşük.</a:t>
            </a:r>
            <a:endParaRPr lang="en-US" sz="1200" dirty="0"/>
          </a:p>
        </p:txBody>
      </p:sp>
      <p:sp>
        <p:nvSpPr>
          <p:cNvPr id="8" name="İş gerekçesi Hedef davranışlar"/>
          <p:cNvSpPr/>
          <p:nvPr/>
        </p:nvSpPr>
        <p:spPr>
          <a:xfrm>
            <a:off x="4617720" y="132588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43560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HEDEF DAVRANIŞLAR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73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İlk 10 dakikada söz alır · beklenmedik soruya net cevap verir · 5 dakikalık sunumu notsuz yapar.</a:t>
            </a:r>
            <a:endParaRPr lang="en-US" sz="1200" dirty="0"/>
          </a:p>
        </p:txBody>
      </p:sp>
      <p:sp>
        <p:nvSpPr>
          <p:cNvPr id="11" name="İş gerekçesi Müdahale"/>
          <p:cNvSpPr/>
          <p:nvPr/>
        </p:nvSpPr>
        <p:spPr>
          <a:xfrm>
            <a:off x="457200" y="233172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44144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MÜDAHALE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79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 Oturumluk Program: 6 × 2 saat, 12 kişi, mesai içinde.</a:t>
            </a:r>
            <a:endParaRPr lang="en-US" sz="1200" dirty="0"/>
          </a:p>
        </p:txBody>
      </p:sp>
      <p:sp>
        <p:nvSpPr>
          <p:cNvPr id="14" name="İş gerekçesi Ölçüt"/>
          <p:cNvSpPr/>
          <p:nvPr/>
        </p:nvSpPr>
        <p:spPr>
          <a:xfrm>
            <a:off x="4617720" y="233172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44144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ÖLÇÜT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6791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Öz değerlendirme artışı · 60. gün yönetici gözlemi · HQ toplantısında sunum yapan kişi sayısı.</a:t>
            </a:r>
            <a:endParaRPr lang="en-US" sz="1200" dirty="0"/>
          </a:p>
        </p:txBody>
      </p:sp>
      <p:sp>
        <p:nvSpPr>
          <p:cNvPr id="17" name="İş gerekçesi Maliyet"/>
          <p:cNvSpPr/>
          <p:nvPr/>
        </p:nvSpPr>
        <p:spPr>
          <a:xfrm>
            <a:off x="457200" y="333756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4472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MALİYET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6850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180.000 TL + KDV · kişi başı 15.000 TL · kişi-saat 1.250 TL.</a:t>
            </a:r>
            <a:endParaRPr lang="en-US" sz="1200" dirty="0"/>
          </a:p>
        </p:txBody>
      </p:sp>
      <p:sp>
        <p:nvSpPr>
          <p:cNvPr id="20" name="İş gerekçesi Risk azaltma"/>
          <p:cNvSpPr/>
          <p:nvPr/>
        </p:nvSpPr>
        <p:spPr>
          <a:xfrm>
            <a:off x="4617720" y="3337560"/>
            <a:ext cx="4069080" cy="896112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00600" y="34472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RİSK AZALTMA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36850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Ölçüt tutmazsa ek takip oturumu bizden. Karar tarihi: Aralık başı.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BÜTÇE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Programlar ve fiyatlar</a:t>
            </a:r>
            <a:endParaRPr lang="en-US" sz="2800" dirty="0"/>
          </a:p>
        </p:txBody>
      </p:sp>
      <p:graphicFrame>
        <p:nvGraphicFramePr>
          <p:cNvPr id="13" name="Fiyat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926080"/>
                <a:gridCol w="118872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KAPSAM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GRUP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0A0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FİYAT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Etkinlik Oturumu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90 dk, 2 eğitmen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20–60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65.000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Sahne Provası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3 saat, her modülde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8–16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55.000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Tam Gün Yoğun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6 saat; 12 kişinin üstünde 2. eğitmen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8–16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110.000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6 Oturumluk Program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6 × 2 saat + takip + ölçüm raporu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8–14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180.000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Provadan sonra kalan 5 oturum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60 gün içinde programa geçişte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8–14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140.000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Çalışan Kulübü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10 × 2 saat, mesai sonrası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8–16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240.000 TL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2EC"/>
                          </a:solidFill>
                        </a:rPr>
                        <a:t>Yıl Sonu Şirket Oyunu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12 hafta + gösteri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2EC"/>
                          </a:solidFill>
                        </a:rPr>
                        <a:t>10–20 kişi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FF00"/>
                          </a:solidFill>
                        </a:rPr>
                        <a:t>520.000 TL'den + KDV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Tüm modüller Türkçe ya da İngilizce, aynı fiyat. Kişi-saat: 12 kişilik 6 Oturumluk Programda 1.250 TL. Ödeme: tek oturumlar teslimden önce; programlar %50 imzada, %50 ortada. Aralık faturası, Ocak–Mart kullanımı mümkün.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FF00"/>
                </a:solidFill>
              </a:rPr>
              <a:t>Kurucu müşteri  </a:t>
            </a:r>
            <a:pPr indent="0" marL="0">
              <a:buNone/>
            </a:pPr>
            <a:r>
              <a:rPr lang="en-US" sz="1100" dirty="0">
                <a:solidFill>
                  <a:srgbClr val="F2F2EC"/>
                </a:solidFill>
              </a:rPr>
              <a:t>İlk üç şirkete Sahne Provası 45.000 TL + KDV; karşılığında referans ve anonim ölçüm verisi kullanım izni.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 LAB İSTANBUL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Tiyatro ekibi, iş dili</a:t>
            </a:r>
            <a:endParaRPr lang="en-US" sz="2800" dirty="0"/>
          </a:p>
        </p:txBody>
      </p:sp>
      <p:pic>
        <p:nvPicPr>
          <p:cNvPr id="4" name="Atölyeden kare" descr="/tmp/sun/img/konus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65176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74720" y="13258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Pera ve Kadıköy'deki stüdyolarımızda oyunculuk ve İngilizce drama programları yürüten profesyonel bir tiyatro ekibiyiz. Yetişkin katılımcılarımızın çoğu beyaz yakalı çalışanlar.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Kurumsal programlar aynı yöntem ve aynı eğitmen kadrosuyla yürür. Eğitmen profilleri görüşmede paylaşılır.</a:t>
            </a:r>
            <a:endParaRPr lang="en-US" sz="1300" dirty="0"/>
          </a:p>
        </p:txBody>
      </p:sp>
      <p:sp>
        <p:nvSpPr>
          <p:cNvPr id="6" name="Araştırma kutusu"/>
          <p:cNvSpPr/>
          <p:nvPr/>
        </p:nvSpPr>
        <p:spPr>
          <a:xfrm>
            <a:off x="3474720" y="2697480"/>
            <a:ext cx="5212080" cy="1920240"/>
          </a:xfrm>
          <a:prstGeom prst="rect">
            <a:avLst/>
          </a:prstGeom>
          <a:solidFill>
            <a:srgbClr val="1C1C20"/>
          </a:solidFill>
          <a:ln w="12700">
            <a:solidFill>
              <a:srgbClr val="1C1C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0" y="278892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ARAŞTIRMA NE DİYOR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Kısa bir doğaçlama çalışması, belirsizlik toleransını kontrol gruplarına göre artırdı (Felsman vd., Thinking Skills and Creativity, 2020).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Bir Finlandiya kurumunda 5 aya yayılan doğaçlama atölyeleri, 15 ay sonra da izlenen bir değişim üretti (Nisula ve Kianto, Journal of Business Research, 2018).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F2F2EC"/>
                </a:solidFill>
              </a:rPr>
              <a:t>Kanıt tabanı genç; bu yüzden her programı ölçüyoruz.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A8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apak görseli" descr="/tmp/sun/img/kapan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SONRAKİ ADIM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459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30 DAKİKALIK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İHTİYAÇ ANALİZİ</a:t>
            </a:r>
            <a:endParaRPr lang="en-US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3291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Hedef davranışta ve başarı ölçütünde anlaşalım. Tedarikçi evrakı hazır.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info@technelabistanbul.com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technelabistanbul.com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e Lab">
  <a:themeElements>
    <a:clrScheme name="Techne Lab">
      <a:dk1>
        <a:srgbClr val="0A0A0C"/>
      </a:dk1>
      <a:lt1>
        <a:srgbClr val="F2F2EC"/>
      </a:lt1>
      <a:dk2>
        <a:srgbClr val="1C1C20"/>
      </a:dk2>
      <a:lt2>
        <a:srgbClr val="A8A8A0"/>
      </a:lt2>
      <a:accent1>
        <a:srgbClr val="C8FF00"/>
      </a:accent1>
      <a:accent2>
        <a:srgbClr val="2A2A2E"/>
      </a:accent2>
      <a:accent3>
        <a:srgbClr val="FFFFFF"/>
      </a:accent3>
      <a:accent4>
        <a:srgbClr val="6B6B6B"/>
      </a:accent4>
      <a:accent5>
        <a:srgbClr val="E2FF80"/>
      </a:accent5>
      <a:accent6>
        <a:srgbClr val="3A3A3A"/>
      </a:accent6>
      <a:hlink>
        <a:srgbClr val="C8FF00"/>
      </a:hlink>
      <a:folHlink>
        <a:srgbClr val="A8A8A0"/>
      </a:folHlink>
    </a:clrScheme>
    <a:fontScheme name="Techne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Techne Lab İstanbul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Techne Lab İstanbul · Kurumsal Programlar</dc:title>
  <dc:subject>PptxGenJS Presentation</dc:subject>
  <dc:creator>Techne Lab İstanbul</dc:creator>
  <cp:lastModifiedBy>Techne Lab İstanbul</cp:lastModifiedBy>
  <cp:revision>1</cp:revision>
  <dcterms:created xsi:type="dcterms:W3CDTF">2026-10-08T18:32:39Z</dcterms:created>
  <dcterms:modified xsi:type="dcterms:W3CDTF">2026-10-08T18:32:39Z</dcterms:modified>
</cp:coreProperties>
</file>