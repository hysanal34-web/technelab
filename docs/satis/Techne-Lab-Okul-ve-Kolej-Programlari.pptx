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3ea4437b-7bd6-f66b-86f4-14e7d4898bca}">
          <p14:sldIdLst>
            <p14:sldId id="256"/>
            <p14:sldId id="257"/>
          </p14:sldIdLst>
        </p14:section>
        <p14:section name="Biz" id="{f440a86f-d3eb-8474-2c8c-409f84e73c5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rogramlar" id="{fb3ca7d6-ac1c-90ee-2768-95fd08e35b5f}">
          <p14:sldIdLst>
            <p14:sldId id="264"/>
            <p14:sldId id="265"/>
            <p14:sldId id="266"/>
            <p14:sldId id="267"/>
            <p14:sldId id="268"/>
          </p14:sldIdLst>
        </p14:section>
        <p14:section name="Kapanış" id="{56a1f896-3e29-5041-3f29-fe99813e797a}">
          <p14:sldIdLst>
            <p14:sldId id="269"/>
          </p14:sldIdLst>
        </p14:section>
        <p14:section name="Kapanış" id="{8d7a8d1b-f6a5-fa47-1926-508956becff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Kaynaklar: Sağlamel ve Kayaoğlu 2013, RELC Journal 44(3); Galante ve Thomson 2017, TESOL Quarterly 51(1); EEF Teaching and Learning Toolkit, Arts participation.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Lee, Patall, Cawthon ve Steingut 2015, Review of Educational Research 85(1), 47 yarı deneysel çalışma.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Okulun tiyatro öğretmeniyle ortak yönetmenlik. Işık, ses, kostüm ve salon giderleri ayrı planlanır.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Okullarda KDV büyük ölçüde gerçek maliyet olduğu için KDV dahil toplam da gösterildi.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Üniversite ve IB DP Theatre için ayrı tek sayfalık teklif hazırlanır; bu sunumda yer almaz.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45920"/>
            <a:ext cx="8046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TECHNE LAB İSTANBUL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411480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OKUL PROGRAMLARI · 2026–27 · 2027–28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pak görseli" descr="/tmp/sun/img/kapak-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İLKOKUL · ORTAOKUL · LİSE · ÖĞRETMENLER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459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OKULLAR İÇİN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SAHNE PROGRAMLARI</a:t>
            </a:r>
            <a:endParaRPr lang="en-US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3291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Tiyatro, drama, müzikal, dans, tasarım ve yıl sonu oyunu · Türkçe ve İngilizce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technelabistanbul.com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ÇÖZDÜĞÜMÜZ SORUN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Sınıfta öğrenileni sahnede kullanmak</a:t>
            </a:r>
            <a:endParaRPr lang="en-US" sz="2800" dirty="0"/>
          </a:p>
        </p:txBody>
      </p:sp>
      <p:sp>
        <p:nvSpPr>
          <p:cNvPr id="5" name="Kart Söz almaktan çekinen öğrenci"/>
          <p:cNvSpPr/>
          <p:nvPr/>
        </p:nvSpPr>
        <p:spPr>
          <a:xfrm>
            <a:off x="457200" y="1325880"/>
            <a:ext cx="2651760" cy="21945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KONUŞMA KAYGISI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64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Söz almaktan çekinen öğrenci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13432"/>
            <a:ext cx="22860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Altı haftalık yaratıcı drama çalışması, yabancı dil kaygısını anlamlı biçimde azalttı.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</a:rPr>
              <a:t>Sağlamel ve Kayaoğlu, RELC Journal, 2013</a:t>
            </a:r>
            <a:endParaRPr lang="en-US" sz="1000" dirty="0"/>
          </a:p>
        </p:txBody>
      </p:sp>
      <p:sp>
        <p:nvSpPr>
          <p:cNvPr id="10" name="Kart Bilen ama akmayan konuşma"/>
          <p:cNvSpPr/>
          <p:nvPr/>
        </p:nvSpPr>
        <p:spPr>
          <a:xfrm>
            <a:off x="3246120" y="1325880"/>
            <a:ext cx="2651760" cy="21945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AKICILIK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1764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Bilen ama akmayan konuşma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2313432"/>
            <a:ext cx="22860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Dört aylık drama programı, iletişimsel yönteme göre daha büyük akıcılık kazanımı sağladı.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</a:rPr>
              <a:t>Galante ve Thomson, TESOL Quarterly, 2017</a:t>
            </a:r>
            <a:endParaRPr lang="en-US" sz="1000" dirty="0"/>
          </a:p>
        </p:txBody>
      </p:sp>
      <p:sp>
        <p:nvSpPr>
          <p:cNvPr id="15" name="Kart Sanatın akademik etkisi"/>
          <p:cNvSpPr/>
          <p:nvPr/>
        </p:nvSpPr>
        <p:spPr>
          <a:xfrm>
            <a:off x="6035040" y="1325880"/>
            <a:ext cx="2651760" cy="21945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İLERLEME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764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Sanatın akademik etkisi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2313432"/>
            <a:ext cx="22860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Sanat katılımı programları ortalama 3 ay ek ilerlemeyle ilişkili (80 çalışma).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</a:rPr>
              <a:t>EEF Teaching and Learning Toolkit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Sınıfta öğrenilen yapılar, sahnede gerçek bir amaçla konuşmaya dönüşür.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TECHNE LAB İSTANBUL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Sahnede yıl boyu süren programlar</a:t>
            </a:r>
            <a:endParaRPr lang="en-US" sz="2800" dirty="0"/>
          </a:p>
        </p:txBody>
      </p:sp>
      <p:pic>
        <p:nvPicPr>
          <p:cNvPr id="4" name="English Drama Youth atölyesinden kare" descr="/tmp/sun/img/you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65176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474720" y="132588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Pera ve Kadıköy'de çocuk, genç ve yetişkinlere İngilizce drama, oyunculuk, müzikal ve dans programları yürütüyoruz. 10–17 yaş programımız Ekim'den Mayıs'a sürüyor ve seyircili, tamamen İngilizce bir gösteriyle kapanıyor.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Okul programlarımız bu deneyimin sınıfa ve öğretmen odasına uyarlanmış hâli.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chemeClr val="bg1"/>
                </a:solidFill>
              </a:rPr>
              <a:t>Eğitmen özgeçmişleri ve belgeleri görüşmede paylaşılır.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47472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TR · EN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347472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Türkçe ve İngilizce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25780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 ay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25780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Ekim–Mayıs programları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 semt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Pera ve Kadıköy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KATALOĞU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Yedi modül, Türkçe ya da İngilizce</a:t>
            </a:r>
            <a:endParaRPr lang="en-US" sz="2800" dirty="0"/>
          </a:p>
        </p:txBody>
      </p:sp>
      <p:sp>
        <p:nvSpPr>
          <p:cNvPr id="4" name="Kart Tiyatro ve Drama"/>
          <p:cNvSpPr/>
          <p:nvPr/>
        </p:nvSpPr>
        <p:spPr>
          <a:xfrm>
            <a:off x="457200" y="1325880"/>
            <a:ext cx="1965960" cy="1508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647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Tiyatro ve Drama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2"/>
                </a:solidFill>
              </a:rPr>
              <a:t>Oyun, doğaçlama ve sahne çalışması; ifade ve özgüven. İlkokuldan liseye.</a:t>
            </a:r>
            <a:endParaRPr lang="en-US" sz="1100" dirty="0"/>
          </a:p>
        </p:txBody>
      </p:sp>
      <p:sp>
        <p:nvSpPr>
          <p:cNvPr id="8" name="Kart İngilizce Drama"/>
          <p:cNvSpPr/>
          <p:nvPr/>
        </p:nvSpPr>
        <p:spPr>
          <a:xfrm>
            <a:off x="2560320" y="1325880"/>
            <a:ext cx="1965960" cy="1508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7647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İngilizce Drama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2219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2"/>
                </a:solidFill>
              </a:rPr>
              <a:t>İngilizceyi sahnede, gerçek bir amaçla kullanmak; sınıfın seviyesine göre.</a:t>
            </a:r>
            <a:endParaRPr lang="en-US" sz="1100" dirty="0"/>
          </a:p>
        </p:txBody>
      </p:sp>
      <p:sp>
        <p:nvSpPr>
          <p:cNvPr id="12" name="Kart Müzikal ve Jazz Dans"/>
          <p:cNvSpPr/>
          <p:nvPr/>
        </p:nvSpPr>
        <p:spPr>
          <a:xfrm>
            <a:off x="4663440" y="1325880"/>
            <a:ext cx="1965960" cy="1508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647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Müzikal ve Jazz Dans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2219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2"/>
                </a:solidFill>
              </a:rPr>
              <a:t>Şarkı, jazz dans ve sahne bir arada; vokal ve dans eğitmenleriyle.</a:t>
            </a:r>
            <a:endParaRPr lang="en-US" sz="1100" dirty="0"/>
          </a:p>
        </p:txBody>
      </p:sp>
      <p:sp>
        <p:nvSpPr>
          <p:cNvPr id="16" name="Kart Beden ve Hareket"/>
          <p:cNvSpPr/>
          <p:nvPr/>
        </p:nvSpPr>
        <p:spPr>
          <a:xfrm>
            <a:off x="6766560" y="1325880"/>
            <a:ext cx="1965960" cy="1508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DİL BAĞIMSIZ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17647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Beden ve Hareket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2219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2"/>
                </a:solidFill>
              </a:rPr>
              <a:t>Fiziksel tiyatro, ritim, ensemble hareket ve beden farkındalığı.</a:t>
            </a:r>
            <a:endParaRPr lang="en-US" sz="1100" dirty="0"/>
          </a:p>
        </p:txBody>
      </p:sp>
      <p:sp>
        <p:nvSpPr>
          <p:cNvPr id="20" name="Kart Tasarım"/>
          <p:cNvSpPr/>
          <p:nvPr/>
        </p:nvSpPr>
        <p:spPr>
          <a:xfrm>
            <a:off x="457200" y="2971800"/>
            <a:ext cx="1965960" cy="1508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136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107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Tasarım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8679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2"/>
                </a:solidFill>
              </a:rPr>
              <a:t>Karakter, maske, kostüm, dekor ve afiş tasarımı; çizimden sahneye.</a:t>
            </a:r>
            <a:endParaRPr lang="en-US" sz="1100" dirty="0"/>
          </a:p>
        </p:txBody>
      </p:sp>
      <p:sp>
        <p:nvSpPr>
          <p:cNvPr id="24" name="Kart Yıl Sonu Oyun Çıkarma"/>
          <p:cNvSpPr/>
          <p:nvPr/>
        </p:nvSpPr>
        <p:spPr>
          <a:xfrm>
            <a:off x="2560320" y="2971800"/>
            <a:ext cx="1965960" cy="1508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43200" y="3136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34107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Yıl Sonu Oyun Çıkarma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38679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2"/>
                </a:solidFill>
              </a:rPr>
              <a:t>Bir oyunu 10 haftada sahneye taşımak: prova, tasarım, gösteri.</a:t>
            </a:r>
            <a:endParaRPr lang="en-US" sz="1100" dirty="0"/>
          </a:p>
        </p:txBody>
      </p:sp>
      <p:sp>
        <p:nvSpPr>
          <p:cNvPr id="28" name="Kart Öğretmenler için Yaratıcı Drama"/>
          <p:cNvSpPr/>
          <p:nvPr/>
        </p:nvSpPr>
        <p:spPr>
          <a:xfrm>
            <a:off x="4663440" y="2971800"/>
            <a:ext cx="1965960" cy="1508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3136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4107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Öğretmenler için Yaratıcı Drama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38679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2"/>
                </a:solidFill>
              </a:rPr>
              <a:t>Sınıfta drama teknikleri; İngilizce öğretmenlerine ayrı varyasyon.</a:t>
            </a:r>
            <a:endParaRPr lang="en-US" sz="1100" dirty="0"/>
          </a:p>
        </p:txBody>
      </p:sp>
      <p:sp>
        <p:nvSpPr>
          <p:cNvPr id="32" name="Kart Kendi yılınızı kurun"/>
          <p:cNvSpPr/>
          <p:nvPr/>
        </p:nvSpPr>
        <p:spPr>
          <a:xfrm>
            <a:off x="6766560" y="2971800"/>
            <a:ext cx="1965960" cy="1508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49440" y="3136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KARMA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34107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Kendi yılınızı kurun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38679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2"/>
                </a:solidFill>
              </a:rPr>
              <a:t>Modüller dönem dönem birleşir. Örnekler sonraki sayfada.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ÖRNEK YILLAR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Modülleri bir yıla yaymak</a:t>
            </a:r>
            <a:endParaRPr lang="en-US" sz="2800" dirty="0"/>
          </a:p>
        </p:txBody>
      </p:sp>
      <p:sp>
        <p:nvSpPr>
          <p:cNvPr id="4" name="Örnek yıl İngilizce Drama Yılı"/>
          <p:cNvSpPr/>
          <p:nvPr/>
        </p:nvSpPr>
        <p:spPr>
          <a:xfrm>
            <a:off x="457200" y="1325880"/>
            <a:ext cx="2651760" cy="3108960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ORTAOKUL · LİSE · EN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İngilizce Drama Yılı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EKİM–ARALIK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054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İngilizce drama: oyun, doğaçlama, hikâye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OCAK–MART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912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Karakter, metin ve tasarım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57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NİSAN–MAYIS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770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Prova ve İngilizce gösteri</a:t>
            </a:r>
            <a:endParaRPr lang="en-US" sz="1200" dirty="0"/>
          </a:p>
        </p:txBody>
      </p:sp>
      <p:sp>
        <p:nvSpPr>
          <p:cNvPr id="13" name="Örnek yıl Müzikal Yılı"/>
          <p:cNvSpPr/>
          <p:nvPr/>
        </p:nvSpPr>
        <p:spPr>
          <a:xfrm>
            <a:off x="3246120" y="1325880"/>
            <a:ext cx="2651760" cy="3108960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ORTAOKUL · LİSE · TR YA DA EN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Müzikal Yılı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286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EKİM–ARALIK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5054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Şan ve jazz dans temelleri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971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OCAK–MART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1912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Sahneleme ve koreografi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657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NİSAN–MAYIS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8770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Müzikal gösteri</a:t>
            </a:r>
            <a:endParaRPr lang="en-US" sz="1200" dirty="0"/>
          </a:p>
        </p:txBody>
      </p:sp>
      <p:sp>
        <p:nvSpPr>
          <p:cNvPr id="22" name="Örnek yıl Sahne Sanatları Turu"/>
          <p:cNvSpPr/>
          <p:nvPr/>
        </p:nvSpPr>
        <p:spPr>
          <a:xfrm>
            <a:off x="6035040" y="1325880"/>
            <a:ext cx="2651760" cy="3108960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İLKOKUL · ORTAOKUL · TR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Sahne Sanatları Turu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2286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DÖNEM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25054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Tiyatro ve drama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2971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DÖNEM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1912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Beden ve hareket, tasarım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657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MAYIS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38770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Sınıf içi gösterim ve tasarım sergisi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FORMATLAR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Bir seanstan yıl sonu gösterisine</a:t>
            </a:r>
            <a:endParaRPr lang="en-US" sz="2800" dirty="0"/>
          </a:p>
        </p:txBody>
      </p:sp>
      <p:sp>
        <p:nvSpPr>
          <p:cNvPr id="4" name="Kart Tanışma seansı"/>
          <p:cNvSpPr/>
          <p:nvPr/>
        </p:nvSpPr>
        <p:spPr>
          <a:xfrm>
            <a:off x="457200" y="1325880"/>
            <a:ext cx="26517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DK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64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Tanışma seansı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305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Zümreyle ya da bir sınıfla. Yöntemi görün, planı birlikte kuralım.</a:t>
            </a:r>
            <a:endParaRPr lang="en-US" sz="1200" dirty="0"/>
          </a:p>
        </p:txBody>
      </p:sp>
      <p:sp>
        <p:nvSpPr>
          <p:cNvPr id="8" name="Kart Atölye Günü"/>
          <p:cNvSpPr/>
          <p:nvPr/>
        </p:nvSpPr>
        <p:spPr>
          <a:xfrm>
            <a:off x="3246120" y="1325880"/>
            <a:ext cx="26517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AYNI GÜN 3 SINIF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764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Atölye Günü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305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Bir modülü bütün kademeye tanıtmak için; 80 dakikalık seanslar.</a:t>
            </a:r>
            <a:endParaRPr lang="en-US" sz="1200" dirty="0"/>
          </a:p>
        </p:txBody>
      </p:sp>
      <p:sp>
        <p:nvSpPr>
          <p:cNvPr id="12" name="Kart Sınıf içi ünite"/>
          <p:cNvSpPr/>
          <p:nvPr/>
        </p:nvSpPr>
        <p:spPr>
          <a:xfrm>
            <a:off x="6035040" y="1325880"/>
            <a:ext cx="26517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HAFTA × 80 DK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764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Sınıf içi ünite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305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İngilizce ya da Türkçe saatlerinin içinde, öğretmenle birlikte.</a:t>
            </a:r>
            <a:endParaRPr lang="en-US" sz="1200" dirty="0"/>
          </a:p>
        </p:txBody>
      </p:sp>
      <p:sp>
        <p:nvSpPr>
          <p:cNvPr id="16" name="Kart Dönemlik program"/>
          <p:cNvSpPr/>
          <p:nvPr/>
        </p:nvSpPr>
        <p:spPr>
          <a:xfrm>
            <a:off x="457200" y="2926080"/>
            <a:ext cx="26517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90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HAFTA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64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Dönemlik program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307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Kulüp ya da okul sonrası. Dönem sonunda sınıf içi gösterim.</a:t>
            </a:r>
            <a:endParaRPr lang="en-US" sz="1200" dirty="0"/>
          </a:p>
        </p:txBody>
      </p:sp>
      <p:sp>
        <p:nvSpPr>
          <p:cNvPr id="20" name="Kart Yıllık program"/>
          <p:cNvSpPr/>
          <p:nvPr/>
        </p:nvSpPr>
        <p:spPr>
          <a:xfrm>
            <a:off x="3246120" y="2926080"/>
            <a:ext cx="26517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3090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HAFTA + GÖSTERİ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364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Yıllık program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7307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Ekim'den Mayıs'a; yıl sonu gösterisi. 2027–28 için.</a:t>
            </a:r>
            <a:endParaRPr lang="en-US" sz="1200" dirty="0"/>
          </a:p>
        </p:txBody>
      </p:sp>
      <p:sp>
        <p:nvSpPr>
          <p:cNvPr id="24" name="Kart Yıl sonu prodüksiyonu"/>
          <p:cNvSpPr/>
          <p:nvPr/>
        </p:nvSpPr>
        <p:spPr>
          <a:xfrm>
            <a:off x="6035040" y="2926080"/>
            <a:ext cx="26517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090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HAFTA × 2 SEANS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364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Yıl sonu prodüksiyonu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7307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Yıl sonu oyunu: prova, tasarım, genel prova, gösteri.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BİR OTURUM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80 dakikalık bir oturum</a:t>
            </a:r>
            <a:endParaRPr lang="en-US" sz="2800" dirty="0"/>
          </a:p>
        </p:txBody>
      </p:sp>
      <p:sp>
        <p:nvSpPr>
          <p:cNvPr id="4" name="Zaman çizgisi"/>
          <p:cNvSpPr/>
          <p:nvPr/>
        </p:nvSpPr>
        <p:spPr>
          <a:xfrm>
            <a:off x="640080" y="1965960"/>
            <a:ext cx="786384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5" name="Durak 0'"/>
          <p:cNvSpPr/>
          <p:nvPr/>
        </p:nvSpPr>
        <p:spPr>
          <a:xfrm>
            <a:off x="56692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0'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Isınma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Beden, ses, odak</a:t>
            </a:r>
            <a:endParaRPr lang="en-US" sz="1200" dirty="0"/>
          </a:p>
        </p:txBody>
      </p:sp>
      <p:sp>
        <p:nvSpPr>
          <p:cNvPr id="9" name="Durak 10'"/>
          <p:cNvSpPr/>
          <p:nvPr/>
        </p:nvSpPr>
        <p:spPr>
          <a:xfrm>
            <a:off x="221284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Dil oyunu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Günün hedef yapısı</a:t>
            </a:r>
            <a:endParaRPr lang="en-US" sz="1200" dirty="0"/>
          </a:p>
        </p:txBody>
      </p:sp>
      <p:sp>
        <p:nvSpPr>
          <p:cNvPr id="13" name="Durak 25'"/>
          <p:cNvSpPr/>
          <p:nvPr/>
        </p:nvSpPr>
        <p:spPr>
          <a:xfrm>
            <a:off x="385876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904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25'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Doğaçlama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Yapıyı gerçek bir durumda kullanmak</a:t>
            </a:r>
            <a:endParaRPr lang="en-US" sz="1200" dirty="0"/>
          </a:p>
        </p:txBody>
      </p:sp>
      <p:sp>
        <p:nvSpPr>
          <p:cNvPr id="17" name="Durak 50'"/>
          <p:cNvSpPr/>
          <p:nvPr/>
        </p:nvSpPr>
        <p:spPr>
          <a:xfrm>
            <a:off x="550468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496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50'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Sahne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Küçük gruplar kısa sahne kurar ve gösterir</a:t>
            </a:r>
            <a:endParaRPr lang="en-US" sz="1200" dirty="0"/>
          </a:p>
        </p:txBody>
      </p:sp>
      <p:sp>
        <p:nvSpPr>
          <p:cNvPr id="21" name="Durak 70'"/>
          <p:cNvSpPr/>
          <p:nvPr/>
        </p:nvSpPr>
        <p:spPr>
          <a:xfrm>
            <a:off x="715060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70'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Kapanış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Öz değerlendirme, tek cümlelik hedef</a:t>
            </a:r>
            <a:endParaRPr lang="en-US" sz="1200" dirty="0"/>
          </a:p>
        </p:txBody>
      </p:sp>
      <p:sp>
        <p:nvSpPr>
          <p:cNvPr id="25" name="Dil hedefi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749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F00"/>
                </a:solidFill>
              </a:rPr>
              <a:t>Örnek hedef  </a:t>
            </a:r>
            <a:pPr indent="0" marL="0">
              <a:buNone/>
            </a:pPr>
            <a:r>
              <a:rPr lang="en-US" sz="1300" dirty="0">
                <a:solidFill>
                  <a:srgbClr val="F2F2EC"/>
                </a:solidFill>
              </a:rPr>
              <a:t>İngilizce grupta fikir bildirmek ve gerekçelendirmek ("I think…", "because…"); Türkçe grupta bir olayı sırasıyla anlatmak. Hedefleri zümreyle seçiyoruz.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MÜFREDAT EŞLEMESİ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Programınızla nerede buluşuyor</a:t>
            </a:r>
            <a:endParaRPr lang="en-US" sz="2800" dirty="0"/>
          </a:p>
        </p:txBody>
      </p:sp>
      <p:graphicFrame>
        <p:nvGraphicFramePr>
          <p:cNvPr id="9" name="Müfredat eşleme tablos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A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ÇERÇEVE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F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A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HEDEF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F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A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ATÖLYEDE NASIL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F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C"/>
                          </a:solidFill>
                        </a:rPr>
                        <a:t>CEFR B1 · sözlü etkileşim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EC"/>
                          </a:solidFill>
                        </a:rPr>
                        <a:t>Tanıdık konularda hazırlıksız konuşmaya katılmak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EC"/>
                          </a:solidFill>
                        </a:rPr>
                        <a:t>Doğaçlama sahneler, rol değişimi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C"/>
                          </a:solidFill>
                        </a:rPr>
                        <a:t>CEFR B1 · sözlü üretim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EC"/>
                          </a:solidFill>
                        </a:rPr>
                        <a:t>Bir olayı, fikri ve gerekçesini anlatmak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EC"/>
                          </a:solidFill>
                        </a:rPr>
                        <a:t>Hikâye anlatımı, kısa monolog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C"/>
                          </a:solidFill>
                        </a:rPr>
                        <a:t>IB MYP Dil Edinimi · Kriter C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EC"/>
                          </a:solidFill>
                        </a:rPr>
                        <a:t>Konuşma: etkileşim ve iletişim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EC"/>
                          </a:solidFill>
                        </a:rPr>
                        <a:t>Sahne çalışması ve sunum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C"/>
                          </a:solidFill>
                        </a:rPr>
                        <a:t>IB ATL becerileri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EC"/>
                          </a:solidFill>
                        </a:rPr>
                        <a:t>İletişim, sosyal ve öz yönetim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EC"/>
                          </a:solidFill>
                        </a:rPr>
                        <a:t>Ensemble çalışması, akran geri bildirimi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C"/>
                          </a:solidFill>
                        </a:rPr>
                        <a:t>Okulun İngilizce programı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EC"/>
                          </a:solidFill>
                        </a:rPr>
                        <a:t>Zümrenin seçtiği hedef yapılar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EC"/>
                          </a:solidFill>
                        </a:rPr>
                        <a:t>Oturumlar zümreyle birlikte planlanır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C"/>
                          </a:solidFill>
                        </a:rPr>
                        <a:t>Okulun Türkçe programı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EC"/>
                          </a:solidFill>
                        </a:rPr>
                        <a:t>Dinlediğini anlamak, kendini ifade etmek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2EC"/>
                          </a:solidFill>
                        </a:rPr>
                        <a:t>Hikâye anlatımı, rol, canlandırma</a:t>
                      </a:r>
                      <a:endParaRPr lang="en-US" sz="12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Eşleme, ilk görüşmede okulun yıllık planına ve sınıf seviyelerine göre netleşir. B1 altındaki sınıflar için hedef yapılar sadeleştirilir.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ÖĞRETMENLER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Öğretmenler için yaratıcı drama</a:t>
            </a:r>
            <a:endParaRPr lang="en-US" sz="2800" dirty="0"/>
          </a:p>
        </p:txBody>
      </p:sp>
      <p:sp>
        <p:nvSpPr>
          <p:cNvPr id="5" name="Kart Sınıfta Yaratıcı Drama"/>
          <p:cNvSpPr/>
          <p:nvPr/>
        </p:nvSpPr>
        <p:spPr>
          <a:xfrm>
            <a:off x="457200" y="1325880"/>
            <a:ext cx="2651760" cy="1691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TÜM BRANŞLAR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64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Sınıfta Yaratıcı Drama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67712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Isınma, rol, doğaçlama ve canlandırma; her branşta kullanılabilecek teknikler.</a:t>
            </a:r>
            <a:endParaRPr lang="en-US" sz="1200" dirty="0"/>
          </a:p>
        </p:txBody>
      </p:sp>
      <p:sp>
        <p:nvSpPr>
          <p:cNvPr id="9" name="Kart Drama in the English Classroom"/>
          <p:cNvSpPr/>
          <p:nvPr/>
        </p:nvSpPr>
        <p:spPr>
          <a:xfrm>
            <a:off x="3246120" y="1325880"/>
            <a:ext cx="2651760" cy="1691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· İNGİLİZCE ZÜMRESİ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1764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Drama in the English Classroom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2267712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Hedef yapıyı sahnede kullandıran, konuşma kaygısını azaltmaya yönelik etkinlikler.</a:t>
            </a:r>
            <a:endParaRPr lang="en-US" sz="1200" dirty="0"/>
          </a:p>
        </p:txBody>
      </p:sp>
      <p:sp>
        <p:nvSpPr>
          <p:cNvPr id="13" name="Kart Okul Tiyatrosu Yönetmek"/>
          <p:cNvSpPr/>
          <p:nvPr/>
        </p:nvSpPr>
        <p:spPr>
          <a:xfrm>
            <a:off x="6035040" y="1325880"/>
            <a:ext cx="2651760" cy="1691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 · KULÜP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764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Okul Tiyatrosu Yönetmek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267712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Oyun seçimi, rol dağıtımı, prova planı ve sahneleme.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154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Süre: yarım gün (3 saat), 1 gün (6 saat) ya da 2 gün (12 saat). Her öğretmene sınıfta hemen kullanılabilecek 20 etkinlikten oluşan uygulama dosyası. Katılım belgesini okul, okul temelli mesleki gelişim kapsamında düzenler.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Uygulama Eşliği (isteğe bağlı): 6 hafta; toplam 2 sınıf ziyareti, öğretmenle ortak uygulama ve toplu ölçüm raporu.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</a:rPr>
              <a:t>Drama temelli öğretimin etkisi, uygulamayı sınıf öğretmeni yürüttüğünde daha güçlü bulundu (Lee vd., Review of Educational Research, 2015; 47 çalışma).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YIL SONU OYUN ÇIKARMA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On haftada sahneye</a:t>
            </a:r>
            <a:endParaRPr lang="en-US" sz="2800" dirty="0"/>
          </a:p>
        </p:txBody>
      </p:sp>
      <p:sp>
        <p:nvSpPr>
          <p:cNvPr id="5" name="Zaman çizgisi"/>
          <p:cNvSpPr/>
          <p:nvPr/>
        </p:nvSpPr>
        <p:spPr>
          <a:xfrm>
            <a:off x="640080" y="1965960"/>
            <a:ext cx="786384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6" name="Durak 1–2. hafta"/>
          <p:cNvSpPr/>
          <p:nvPr/>
        </p:nvSpPr>
        <p:spPr>
          <a:xfrm>
            <a:off x="56692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1–2. hafta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Metin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Öğrencilerin ürettiği ya da uyarlanan metin; roller</a:t>
            </a:r>
            <a:endParaRPr lang="en-US" sz="1200" dirty="0"/>
          </a:p>
        </p:txBody>
      </p:sp>
      <p:sp>
        <p:nvSpPr>
          <p:cNvPr id="10" name="Durak 3–5"/>
          <p:cNvSpPr/>
          <p:nvPr/>
        </p:nvSpPr>
        <p:spPr>
          <a:xfrm>
            <a:off x="221284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0312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3–5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1031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Prova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10312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Sahne, hareket ve şarkılar</a:t>
            </a:r>
            <a:endParaRPr lang="en-US" sz="1200" dirty="0"/>
          </a:p>
        </p:txBody>
      </p:sp>
      <p:sp>
        <p:nvSpPr>
          <p:cNvPr id="14" name="Durak 6–7"/>
          <p:cNvSpPr/>
          <p:nvPr/>
        </p:nvSpPr>
        <p:spPr>
          <a:xfrm>
            <a:off x="385876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4904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6–7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Tasarım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74904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Kostüm, dekor ve afiş öğrencilerle</a:t>
            </a:r>
            <a:endParaRPr lang="en-US" sz="1200" dirty="0"/>
          </a:p>
        </p:txBody>
      </p:sp>
      <p:sp>
        <p:nvSpPr>
          <p:cNvPr id="18" name="Durak 8–9"/>
          <p:cNvSpPr/>
          <p:nvPr/>
        </p:nvSpPr>
        <p:spPr>
          <a:xfrm>
            <a:off x="550468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9496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8–9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Birleştirme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39496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Sahne geçişleri, müzik, teknik</a:t>
            </a:r>
            <a:endParaRPr lang="en-US" sz="1200" dirty="0"/>
          </a:p>
        </p:txBody>
      </p:sp>
      <p:sp>
        <p:nvSpPr>
          <p:cNvPr id="22" name="Durak 10"/>
          <p:cNvSpPr/>
          <p:nvPr/>
        </p:nvSpPr>
        <p:spPr>
          <a:xfrm>
            <a:off x="715060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4088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Gösteri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Genel prova ve seyircili gösteri</a:t>
            </a:r>
            <a:endParaRPr lang="en-US" sz="1200" dirty="0"/>
          </a:p>
        </p:txBody>
      </p:sp>
      <p:sp>
        <p:nvSpPr>
          <p:cNvPr id="26" name="Ekip notu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F00"/>
                </a:solidFill>
              </a:rPr>
              <a:t>Ekip  </a:t>
            </a:r>
            <a:pPr indent="0" marL="0">
              <a:buNone/>
            </a:pPr>
            <a:r>
              <a:rPr lang="en-US" sz="1200" dirty="0">
                <a:solidFill>
                  <a:srgbClr val="F2F2EC"/>
                </a:solidFill>
              </a:rPr>
              <a:t>Yönetmen ve hareket eğitmeni, haftada 2 seans, en fazla 25 öğrenci. Türkçe ya da İngilizce. Sahneye çıkmak istemeyen öğrenciler tasarım ve teknik ekipte.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ÖLÇÜM VE RAPOR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Ne ölçüyoruz, kim görüyor</a:t>
            </a:r>
            <a:endParaRPr lang="en-US" sz="2800" dirty="0"/>
          </a:p>
        </p:txBody>
      </p:sp>
      <p:sp>
        <p:nvSpPr>
          <p:cNvPr id="4" name="Kart Başlangıç ve bitiş kaydı"/>
          <p:cNvSpPr/>
          <p:nvPr/>
        </p:nvSpPr>
        <p:spPr>
          <a:xfrm>
            <a:off x="457200" y="1325880"/>
            <a:ext cx="2651760" cy="16459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KONUŞMA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64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Başlangıç ve bitiş kaydı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762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Kısa konuşma kaydı, yalnız okulun ve velinin onayıyla.</a:t>
            </a:r>
            <a:endParaRPr lang="en-US" sz="1200" dirty="0"/>
          </a:p>
        </p:txBody>
      </p:sp>
      <p:sp>
        <p:nvSpPr>
          <p:cNvPr id="8" name="Kart Gözlem formu"/>
          <p:cNvSpPr/>
          <p:nvPr/>
        </p:nvSpPr>
        <p:spPr>
          <a:xfrm>
            <a:off x="3246120" y="1325880"/>
            <a:ext cx="2651760" cy="16459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ÖĞRETMEN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764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Gözlem formu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762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Sınıf öğretmeni dönem içinde iki kez doldurur.</a:t>
            </a:r>
            <a:endParaRPr lang="en-US" sz="1200" dirty="0"/>
          </a:p>
        </p:txBody>
      </p:sp>
      <p:sp>
        <p:nvSpPr>
          <p:cNvPr id="12" name="Kart Öz değerlendirme"/>
          <p:cNvSpPr/>
          <p:nvPr/>
        </p:nvSpPr>
        <p:spPr>
          <a:xfrm>
            <a:off x="6035040" y="1325880"/>
            <a:ext cx="2651760" cy="16459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ÖĞRENCİ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764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Öz değerlendirme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762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Konuşma kaygısı ve özgüven ölçeği; öğretmen uygular.</a:t>
            </a:r>
            <a:endParaRPr lang="en-US" sz="1200" dirty="0"/>
          </a:p>
        </p:txBody>
      </p:sp>
      <p:sp>
        <p:nvSpPr>
          <p:cNvPr id="16" name="Veri notu"/>
          <p:cNvSpPr/>
          <p:nvPr/>
        </p:nvSpPr>
        <p:spPr>
          <a:xfrm>
            <a:off x="457200" y="3154680"/>
            <a:ext cx="8229600" cy="1005840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F00"/>
                </a:solidFill>
              </a:rPr>
              <a:t>Veri  </a:t>
            </a:r>
            <a:pPr indent="0" marL="0">
              <a:buNone/>
            </a:pPr>
            <a:r>
              <a:rPr lang="en-US" sz="1300" dirty="0">
                <a:solidFill>
                  <a:srgbClr val="F2F2EC"/>
                </a:solidFill>
              </a:rPr>
              <a:t>Veri sorumlusu okuldur; Techne Lab yalnızca toplu ve anonim veriyi görür. Dönem sonunda tek sayfalık gelişim raporu: başlangıç ve bitiş karşılaştırması, öğretmen gözlemi, sonraki dönem önerisi.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GÜVENCE VE UYUM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Kampüse kim giriyor, ne imzalıyoruz</a:t>
            </a:r>
            <a:endParaRPr lang="en-US" sz="2800" dirty="0"/>
          </a:p>
        </p:txBody>
      </p:sp>
      <p:sp>
        <p:nvSpPr>
          <p:cNvPr id="4" name="Kart Okul personeli her oturumda"/>
          <p:cNvSpPr/>
          <p:nvPr/>
        </p:nvSpPr>
        <p:spPr>
          <a:xfrm>
            <a:off x="457200" y="1325880"/>
            <a:ext cx="2651760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Okul personeli her oturumda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391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Eğitmen öğrencilerle hiçbir zaman yalnız kalmaz.</a:t>
            </a:r>
            <a:endParaRPr lang="en-US" sz="1200" dirty="0"/>
          </a:p>
        </p:txBody>
      </p:sp>
      <p:sp>
        <p:nvSpPr>
          <p:cNvPr id="7" name="Kart Belgeler"/>
          <p:cNvSpPr/>
          <p:nvPr/>
        </p:nvSpPr>
        <p:spPr>
          <a:xfrm>
            <a:off x="3246120" y="1325880"/>
            <a:ext cx="2651760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490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Belgeler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0391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Uzman öğretici yeterliliği, diploma, adli sicil kaydı.</a:t>
            </a:r>
            <a:endParaRPr lang="en-US" sz="1200" dirty="0"/>
          </a:p>
        </p:txBody>
      </p:sp>
      <p:sp>
        <p:nvSpPr>
          <p:cNvPr id="10" name="Kart Çocuk koruma ve KVKK"/>
          <p:cNvSpPr/>
          <p:nvPr/>
        </p:nvSpPr>
        <p:spPr>
          <a:xfrm>
            <a:off x="6035040" y="1325880"/>
            <a:ext cx="2651760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490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Çocuk koruma ve KVKK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391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Fotoğraf ve video yalnız okulun ve velinin onayıyla.</a:t>
            </a:r>
            <a:endParaRPr lang="en-US" sz="1200" dirty="0"/>
          </a:p>
        </p:txBody>
      </p:sp>
      <p:sp>
        <p:nvSpPr>
          <p:cNvPr id="13" name="Kart İçerik onayı"/>
          <p:cNvSpPr/>
          <p:nvPr/>
        </p:nvSpPr>
        <p:spPr>
          <a:xfrm>
            <a:off x="457200" y="2788920"/>
            <a:ext cx="2651760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535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İçerik onayı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021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Metin ve gösteri içeriği okulla birlikte onaylanır.</a:t>
            </a:r>
            <a:endParaRPr lang="en-US" sz="1200" dirty="0"/>
          </a:p>
        </p:txBody>
      </p:sp>
      <p:sp>
        <p:nvSpPr>
          <p:cNvPr id="16" name="Kart Rol paylaşımı"/>
          <p:cNvSpPr/>
          <p:nvPr/>
        </p:nvSpPr>
        <p:spPr>
          <a:xfrm>
            <a:off x="3246120" y="2788920"/>
            <a:ext cx="2651760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29535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Rol paylaşımı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5021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Programın sahibi danışman öğretmen ve zümre; biz uzman eğitmen ve ortak yönetmeniz.</a:t>
            </a:r>
            <a:endParaRPr lang="en-US" sz="1200" dirty="0"/>
          </a:p>
        </p:txBody>
      </p:sp>
      <p:sp>
        <p:nvSpPr>
          <p:cNvPr id="19" name="Kart Sözleşme ve fatura"/>
          <p:cNvSpPr/>
          <p:nvPr/>
        </p:nvSpPr>
        <p:spPr>
          <a:xfrm>
            <a:off x="6035040" y="2788920"/>
            <a:ext cx="2651760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9535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Sözleşme ve fatura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5021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Hizmet alımı sözleşmesi, e-fatura, yazılı iptal ve telafi koşulları.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BÜTÇE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Programlar ve bütçe</a:t>
            </a:r>
            <a:endParaRPr lang="en-US" sz="2800" dirty="0"/>
          </a:p>
        </p:txBody>
      </p:sp>
      <p:graphicFrame>
        <p:nvGraphicFramePr>
          <p:cNvPr id="14" name="Bütçe tablos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1691640"/>
                <a:gridCol w="1417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A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FORMAT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F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A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KAPSAM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F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A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FİYAT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F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A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KDV DAHİL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F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EC"/>
                          </a:solidFill>
                        </a:rPr>
                        <a:t>Atölye Günü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Aynı gün 3 sınıf, 80'er dakika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FF00"/>
                          </a:solidFill>
                        </a:rPr>
                        <a:t>36.000 TL + KDV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43.200 TL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EC"/>
                          </a:solidFill>
                        </a:rPr>
                        <a:t>Sınıf içi ünite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6 × 80 dk, 1 sınıf (2 sınıf: 110.000 TL + KDV)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FF00"/>
                          </a:solidFill>
                        </a:rPr>
                        <a:t>60.000 TL + KDV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72.000 TL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EC"/>
                          </a:solidFill>
                        </a:rPr>
                        <a:t>Dönemlik program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14 hafta, en fazla 16 öğrenci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FF00"/>
                          </a:solidFill>
                        </a:rPr>
                        <a:t>180.000 TL + KDV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216.000 TL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EC"/>
                          </a:solidFill>
                        </a:rPr>
                        <a:t>Yıllık program · 2027–28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28 hafta + gösteri, en fazla 14 öğrenci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FF00"/>
                          </a:solidFill>
                        </a:rPr>
                        <a:t>380.000 TL'den + KDV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456.000 TL'den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EC"/>
                          </a:solidFill>
                        </a:rPr>
                        <a:t>Yıl sonu prodüksiyonu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10 hafta × 2 seans, 2 eğitmen, en fazla 25 öğrenci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FF00"/>
                          </a:solidFill>
                        </a:rPr>
                        <a:t>450.000 TL + KDV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540.000 TL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EC"/>
                          </a:solidFill>
                        </a:rPr>
                        <a:t>Öğretmen atölyesi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Yarım gün / 1 gün / 2 gün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FF00"/>
                          </a:solidFill>
                        </a:rPr>
                        <a:t>40.000 / 65.000 / 110.000 TL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48.000 / 78.000 / 132.000 TL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EC"/>
                          </a:solidFill>
                        </a:rPr>
                        <a:t>Uygulama Eşliği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6 hafta, 2 sınıf ziyareti, toplu rapor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FF00"/>
                          </a:solidFill>
                        </a:rPr>
                        <a:t>65.000 TL + KDV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EC"/>
                          </a:solidFill>
                        </a:rPr>
                        <a:t>78.000 TL</a:t>
                      </a:r>
                      <a:endParaRPr lang="en-US" sz="10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Tüm modüller Türkçe ya da İngilizce, aynı fiyat. Müzikal ve Jazz Dans modülünde %15 fark (vokal ve dans eğitmenleri, müzik altyapısı). Tasarım malzemesi ve gösteri prodüksiyon giderleri ayrı. Ödeme: %40 imzada, kalanı aylık. Kurucu okul: ilk üç okula, vaka ve referans izni karşılığında %15 avantaj.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pak görseli" descr="/tmp/sun/img/study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SONRAKİ ADIM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459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ZÜMRENİZLE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60 DAKİKA</a:t>
            </a:r>
            <a:endParaRPr lang="en-US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3291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Yöntemi öğretmenleriniz denesin, planı birlikte kuralım. Aralık başı karar → Şubat ünitesi; Mart → 2027–28.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info@technelabistanbul.com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technelabistanbul.com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e Lab">
  <a:themeElements>
    <a:clrScheme name="Techne Lab">
      <a:dk1>
        <a:srgbClr val="0A0A0C"/>
      </a:dk1>
      <a:lt1>
        <a:srgbClr val="F2F2EC"/>
      </a:lt1>
      <a:dk2>
        <a:srgbClr val="1C1C20"/>
      </a:dk2>
      <a:lt2>
        <a:srgbClr val="A8A8A0"/>
      </a:lt2>
      <a:accent1>
        <a:srgbClr val="C8FF00"/>
      </a:accent1>
      <a:accent2>
        <a:srgbClr val="2A2A2E"/>
      </a:accent2>
      <a:accent3>
        <a:srgbClr val="FFFFFF"/>
      </a:accent3>
      <a:accent4>
        <a:srgbClr val="6B6B6B"/>
      </a:accent4>
      <a:accent5>
        <a:srgbClr val="E2FF80"/>
      </a:accent5>
      <a:accent6>
        <a:srgbClr val="3A3A3A"/>
      </a:accent6>
      <a:hlink>
        <a:srgbClr val="C8FF00"/>
      </a:hlink>
      <a:folHlink>
        <a:srgbClr val="A8A8A0"/>
      </a:folHlink>
    </a:clrScheme>
    <a:fontScheme name="Techne La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Techne Lab İstanbul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Techne Lab İstanbul · Okullar için Sahne Programları</dc:title>
  <dc:subject>PptxGenJS Presentation</dc:subject>
  <dc:creator>Techne Lab İstanbul</dc:creator>
  <cp:lastModifiedBy>Techne Lab İstanbul</cp:lastModifiedBy>
  <cp:revision>1</cp:revision>
  <dcterms:created xsi:type="dcterms:W3CDTF">2026-10-08T18:32:39Z</dcterms:created>
  <dcterms:modified xsi:type="dcterms:W3CDTF">2026-10-08T18:32:39Z</dcterms:modified>
</cp:coreProperties>
</file>