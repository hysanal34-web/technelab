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109728"/>
            <a:ext cx="12188952" cy="0"/>
          </a:xfrm>
          <a:prstGeom prst="line">
            <a:avLst/>
          </a:prstGeom>
          <a:ln w="38100">
            <a:solidFill>
              <a:srgbClr val="C8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FF00"/>
                </a:solidFill>
                <a:latin typeface="Arial"/>
              </a:rPr>
              <a:t>07 · BROADWAY MUSICAL 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5F5F0"/>
                </a:solidFill>
                <a:latin typeface="Arial"/>
              </a:rPr>
              <a:t>BROADWAY
MUSICAL DANCE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749039"/>
            <a:ext cx="4389120" cy="0"/>
          </a:xfrm>
          <a:prstGeom prst="line">
            <a:avLst/>
          </a:prstGeom>
          <a:ln w="12700">
            <a:solidFill>
              <a:srgbClr val="C8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3931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A9A9A"/>
                </a:solidFill>
                <a:latin typeface="Arial"/>
              </a:rPr>
              <a:t>Jazz · Theatre Dance · Showmanship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9A"/>
                </a:solidFill>
                <a:latin typeface="Arial"/>
              </a:rPr>
              <a:t>Eğitmen: Köksal Ünal   ·   12 Hafta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4892040"/>
            <a:ext cx="10881360" cy="0"/>
          </a:xfrm>
          <a:prstGeom prst="line">
            <a:avLst/>
          </a:prstGeom>
          <a:ln w="63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50749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FF00"/>
                </a:solidFill>
                <a:latin typeface="Arial"/>
              </a:rPr>
              <a:t>KADİKÖY  —  17 Eylül Perşembe · 19:00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FF00"/>
                </a:solidFill>
                <a:latin typeface="Arial"/>
              </a:rPr>
              <a:t>PERA       —  19 Eylül Cumartesi · 19:00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109728"/>
            <a:ext cx="12188952" cy="0"/>
          </a:xfrm>
          <a:prstGeom prst="line">
            <a:avLst/>
          </a:prstGeom>
          <a:ln w="38100">
            <a:solidFill>
              <a:srgbClr val="C8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FF00"/>
                </a:solidFill>
                <a:latin typeface="Arial"/>
              </a:rPr>
              <a:t>EĞİTMEN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5F5F0"/>
                </a:solidFill>
                <a:latin typeface="Arial"/>
              </a:rPr>
              <a:t>KÖKSAL ÜNAL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920240"/>
            <a:ext cx="3931920" cy="0"/>
          </a:xfrm>
          <a:prstGeom prst="line">
            <a:avLst/>
          </a:prstGeom>
          <a:ln w="12700">
            <a:solidFill>
              <a:srgbClr val="C8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1488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9A9A"/>
                </a:solidFill>
                <a:latin typeface="Arial"/>
              </a:rPr>
              <a:t>Oyuncu, yönetmen ve Broadway dans eğitmeni.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3230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9A9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157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9A9A"/>
                </a:solidFill>
                <a:latin typeface="Arial"/>
              </a:rPr>
              <a:t>Sahne koreografisi ve tiyatro dansı üzerine kapsamlı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99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9A9A"/>
                </a:solidFill>
                <a:latin typeface="Arial"/>
              </a:rPr>
              <a:t>deneyim. Uluslararası Broadway repertuarı ve sahne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8269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9A9A"/>
                </a:solidFill>
                <a:latin typeface="Arial"/>
              </a:rPr>
              <a:t>performansı alanında on yılı aşkın eğitmenlik pratiği.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FF00"/>
                </a:solidFill>
                <a:latin typeface="Arial"/>
              </a:rPr>
              <a:t>UZMANLIK ALANLARI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0"/>
                </a:solidFill>
                <a:latin typeface="Arial"/>
              </a:rPr>
              <a:t>— Jazz 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953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0"/>
                </a:solidFill>
                <a:latin typeface="Arial"/>
              </a:rPr>
              <a:t>— Theatre 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3009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0"/>
                </a:solidFill>
                <a:latin typeface="Arial"/>
              </a:rPr>
              <a:t>— Broadway Koreografisi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648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0"/>
                </a:solidFill>
                <a:latin typeface="Arial"/>
              </a:rPr>
              <a:t>— Sahne Performansı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95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F5F0"/>
                </a:solidFill>
                <a:latin typeface="Arial"/>
              </a:rPr>
              <a:t>— Showmanship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109728"/>
            <a:ext cx="12188952" cy="0"/>
          </a:xfrm>
          <a:prstGeom prst="line">
            <a:avLst/>
          </a:prstGeom>
          <a:ln w="38100">
            <a:solidFill>
              <a:srgbClr val="C8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FF00"/>
                </a:solidFill>
                <a:latin typeface="Arial"/>
              </a:rPr>
              <a:t>PROGRAM İÇERİĞİ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Arial"/>
              </a:rPr>
              <a:t>12 HAFTALIK BROADWAY DANS PROGRAMI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10908792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828800"/>
            <a:ext cx="0" cy="4480560"/>
          </a:xfrm>
          <a:prstGeom prst="line">
            <a:avLst/>
          </a:prstGeom>
          <a:ln w="25400">
            <a:solidFill>
              <a:srgbClr val="C8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FF00"/>
                </a:solidFill>
                <a:latin typeface="Arial"/>
              </a:rPr>
              <a:t>1–4. HAFTA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0"/>
                </a:solidFill>
                <a:latin typeface="Arial"/>
              </a:rPr>
              <a:t>TEKNIK TEMEL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A9A"/>
                </a:solidFill>
                <a:latin typeface="Arial"/>
              </a:rPr>
              <a:t>Jazz ve theatre dance temelleri.
Beden hizalaması, ritim, koordinasyon
ve müzikle ilişki.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1828800"/>
            <a:ext cx="0" cy="4480560"/>
          </a:xfrm>
          <a:prstGeom prst="line">
            <a:avLst/>
          </a:prstGeom>
          <a:ln w="25400">
            <a:solidFill>
              <a:srgbClr val="C8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262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FF00"/>
                </a:solidFill>
                <a:latin typeface="Arial"/>
              </a:rPr>
              <a:t>5–8. HAFTA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957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0"/>
                </a:solidFill>
                <a:latin typeface="Arial"/>
              </a:rPr>
              <a:t>KOREOGRAFI &amp; STIL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175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A9A"/>
                </a:solidFill>
                <a:latin typeface="Arial"/>
              </a:rPr>
              <a:t>Broadway repertuarından sahneler.
Stil çalışması, grup koreografisi
ve sahne dinamiği.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46720" y="1828800"/>
            <a:ext cx="0" cy="4480560"/>
          </a:xfrm>
          <a:prstGeom prst="line">
            <a:avLst/>
          </a:prstGeom>
          <a:ln w="25400">
            <a:solidFill>
              <a:srgbClr val="C8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7532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FF00"/>
                </a:solidFill>
                <a:latin typeface="Arial"/>
              </a:rPr>
              <a:t>9–12. HAFTA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957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F5F0"/>
                </a:solidFill>
                <a:latin typeface="Arial"/>
              </a:rPr>
              <a:t>SAHNE VARLIĞI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0175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A9A"/>
                </a:solidFill>
                <a:latin typeface="Arial"/>
              </a:rPr>
              <a:t>Performans bütünlüğü ve showmanship.
Kostümle çalışma, sahne enerjisi
ve dans dilinin pekiştirilmesi.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109728"/>
            <a:ext cx="12188952" cy="0"/>
          </a:xfrm>
          <a:prstGeom prst="line">
            <a:avLst/>
          </a:prstGeom>
          <a:ln w="38100">
            <a:solidFill>
              <a:srgbClr val="C8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FF00"/>
                </a:solidFill>
                <a:latin typeface="Arial"/>
              </a:rPr>
              <a:t>PROGRAM BİLGİLERİ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5F0"/>
                </a:solidFill>
                <a:latin typeface="Arial"/>
              </a:rPr>
              <a:t>DETAYLAR &amp; SEANSLAR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10908792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9A"/>
                </a:solidFill>
                <a:latin typeface="Arial"/>
              </a:rPr>
              <a:t>SÜRE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0"/>
                </a:solidFill>
                <a:latin typeface="Arial"/>
              </a:rPr>
              <a:t>12 hafta · Haftada 1 gün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212848"/>
            <a:ext cx="10908792" cy="0"/>
          </a:xfrm>
          <a:prstGeom prst="line">
            <a:avLst/>
          </a:prstGeom>
          <a:ln w="63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395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9A"/>
                </a:solidFill>
                <a:latin typeface="Arial"/>
              </a:rPr>
              <a:t>KONTENJAN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9572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0"/>
                </a:solidFill>
                <a:latin typeface="Arial"/>
              </a:rPr>
              <a:t>Maksimum 15 kişi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779776"/>
            <a:ext cx="10908792" cy="0"/>
          </a:xfrm>
          <a:prstGeom prst="line">
            <a:avLst/>
          </a:prstGeom>
          <a:ln w="63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9626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9A"/>
                </a:solidFill>
                <a:latin typeface="Arial"/>
              </a:rPr>
              <a:t>SEVIYE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626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0"/>
                </a:solidFill>
                <a:latin typeface="Arial"/>
              </a:rPr>
              <a:t>Dans deneyimi şart değil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346704"/>
            <a:ext cx="10908792" cy="0"/>
          </a:xfrm>
          <a:prstGeom prst="line">
            <a:avLst/>
          </a:prstGeom>
          <a:ln w="63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35295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9A"/>
                </a:solidFill>
                <a:latin typeface="Arial"/>
              </a:rPr>
              <a:t>KAYIT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295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0"/>
                </a:solidFill>
                <a:latin typeface="Arial"/>
              </a:rPr>
              <a:t>Doğrudan kayıt — ön başvuru gerekmez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3913632"/>
            <a:ext cx="10908792" cy="0"/>
          </a:xfrm>
          <a:prstGeom prst="line">
            <a:avLst/>
          </a:prstGeom>
          <a:ln w="63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FF00"/>
                </a:solidFill>
                <a:latin typeface="Arial"/>
              </a:rPr>
              <a:t>SEANSLAR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5029200" cy="1097280"/>
          </a:xfrm>
          <a:prstGeom prst="rect">
            <a:avLst/>
          </a:prstGeom>
          <a:solidFill>
            <a:srgbClr val="111114"/>
          </a:solidFill>
          <a:ln w="19050">
            <a:solidFill>
              <a:srgbClr val="C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451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FF00"/>
                </a:solidFill>
                <a:latin typeface="Arial"/>
              </a:rPr>
              <a:t>KADİKÖY SEANSI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Arial"/>
              </a:rPr>
              <a:t>17 Eylül · Perşembe · 19:00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572000"/>
            <a:ext cx="5029200" cy="1097280"/>
          </a:xfrm>
          <a:prstGeom prst="rect">
            <a:avLst/>
          </a:prstGeom>
          <a:solidFill>
            <a:srgbClr val="111114"/>
          </a:solidFill>
          <a:ln w="19050">
            <a:solidFill>
              <a:srgbClr val="C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6451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FF00"/>
                </a:solidFill>
                <a:latin typeface="Arial"/>
              </a:rPr>
              <a:t>PERA SEANSI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Arial"/>
              </a:rPr>
              <a:t>19 Eylül · Cumartesi · 19:00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109728"/>
            <a:ext cx="12188952" cy="0"/>
          </a:xfrm>
          <a:prstGeom prst="line">
            <a:avLst/>
          </a:prstGeom>
          <a:ln w="38100">
            <a:solidFill>
              <a:srgbClr val="C8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FF00"/>
                </a:solidFill>
                <a:latin typeface="Arial"/>
              </a:rPr>
              <a:t>ÜCRETLENDİRME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5F0"/>
                </a:solidFill>
                <a:latin typeface="Arial"/>
              </a:rPr>
              <a:t>KAYIT &amp; FİYATLANDIRMA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10908792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8FF00"/>
                </a:solidFill>
                <a:latin typeface="Arial"/>
              </a:rPr>
              <a:t>27.000 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A9A"/>
                </a:solidFill>
                <a:latin typeface="Arial"/>
              </a:rPr>
              <a:t>Toplam Program Bedeli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063240"/>
            <a:ext cx="10908792" cy="0"/>
          </a:xfrm>
          <a:prstGeom prst="line">
            <a:avLst/>
          </a:prstGeom>
          <a:ln w="635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9A"/>
                </a:solidFill>
                <a:latin typeface="Arial"/>
              </a:rPr>
              <a:t>ERKEN KAYIT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0"/>
                </a:solidFill>
                <a:latin typeface="Arial"/>
              </a:rPr>
              <a:t>%10 İndirim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3931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A9A9A"/>
                </a:solidFill>
                <a:latin typeface="Arial"/>
              </a:rPr>
              <a:t>Sınırlı kontenjan için geçerli.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4005072"/>
            <a:ext cx="10908792" cy="0"/>
          </a:xfrm>
          <a:prstGeom prst="line">
            <a:avLst/>
          </a:prstGeom>
          <a:ln w="508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9A"/>
                </a:solidFill>
                <a:latin typeface="Arial"/>
              </a:rPr>
              <a:t>ARKADAŞINLA GEL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0"/>
                </a:solidFill>
                <a:latin typeface="Arial"/>
              </a:rPr>
              <a:t>Her iki kişiye %10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0799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A9A9A"/>
                </a:solidFill>
                <a:latin typeface="Arial"/>
              </a:rPr>
              <a:t>İki kişi birlikte kaydolunca iki tarafa da geçerli.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873752"/>
            <a:ext cx="10908792" cy="0"/>
          </a:xfrm>
          <a:prstGeom prst="line">
            <a:avLst/>
          </a:prstGeom>
          <a:ln w="508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A9A"/>
                </a:solidFill>
                <a:latin typeface="Arial"/>
              </a:rPr>
              <a:t>TAKSIT SEÇENEĞI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F5F0"/>
                </a:solidFill>
                <a:latin typeface="Arial"/>
              </a:rPr>
              <a:t>Kredi Kartı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76672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A9A9A"/>
                </a:solidFill>
                <a:latin typeface="Arial"/>
              </a:rPr>
              <a:t>Kredi kartına taksit imkânı mevcuttur. Detaylar kayıt sırasında iletilir.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5742432"/>
            <a:ext cx="10908792" cy="0"/>
          </a:xfrm>
          <a:prstGeom prst="line">
            <a:avLst/>
          </a:prstGeom>
          <a:ln w="508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109728"/>
            <a:ext cx="12188952" cy="0"/>
          </a:xfrm>
          <a:prstGeom prst="line">
            <a:avLst/>
          </a:prstGeom>
          <a:ln w="38100">
            <a:solidFill>
              <a:srgbClr val="C8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FF00"/>
                </a:solidFill>
                <a:latin typeface="Arial"/>
              </a:rPr>
              <a:t>KAYIT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5F0"/>
                </a:solidFill>
                <a:latin typeface="Arial"/>
              </a:rPr>
              <a:t>NASIL KAYIT OLUNUR?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08760"/>
            <a:ext cx="10908792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0116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FF00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1168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Arial"/>
              </a:rPr>
              <a:t>BIZE ULAŞ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505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A9A"/>
                </a:solidFill>
                <a:latin typeface="Arial"/>
              </a:rPr>
              <a:t>E-posta veya Instagram DM üzerinden programa katılmak istediğini ilet.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971800"/>
            <a:ext cx="10908792" cy="0"/>
          </a:xfrm>
          <a:prstGeom prst="line">
            <a:avLst/>
          </a:prstGeom>
          <a:ln w="508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32918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FF00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918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Arial"/>
              </a:rPr>
              <a:t>YER AYIRT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307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A9A"/>
                </a:solidFill>
                <a:latin typeface="Arial"/>
              </a:rPr>
              <a:t>Kontenjan sınırlı — kaydını tamamla, yerini güvenceye al.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251960"/>
            <a:ext cx="10908792" cy="0"/>
          </a:xfrm>
          <a:prstGeom prst="line">
            <a:avLst/>
          </a:prstGeom>
          <a:ln w="508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" y="6291072"/>
            <a:ext cx="10908792" cy="0"/>
          </a:xfrm>
          <a:prstGeom prst="line">
            <a:avLst/>
          </a:prstGeom>
          <a:ln w="19050">
            <a:solidFill>
              <a:srgbClr val="C8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3459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A9A"/>
                </a:solidFill>
                <a:latin typeface="Arial"/>
              </a:rPr>
              <a:t>technelab.ist/atolyeler/broadway-musical-dance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